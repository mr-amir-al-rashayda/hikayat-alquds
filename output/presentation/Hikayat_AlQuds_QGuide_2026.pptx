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اليوم يصل الزائر إلى القدس، لكنه غالباً يصل إلى المكان قبل أن تصل إليه حكايته. يجد معلومات متفرقة ومسارات عامة، بينما تبقى الرواية الفلسطينية والحرفي والذاكرة المحلية خارج التجربة الرقمية.
المصادر والملاحظات:
- تحليل المشكلة مبني على نطاق المنتج ووثائق المشروع، README.md وcontent/README.md.
- الصورة: باب العامود، أصل الصورة وترخيصها موثقان داخل بيانات الوسائط في المشروع.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نبدأ بالزائر المحلي وفلسطينيي الداخل والشتات، ثم المدارس والجامعات والزوار الدوليين. ويصل الأثر إلى الدكاكين والحرفيين والأدلاء. بيانات فلسطين الرسمية تظهر طلباً واضحاً على زيارات اليوم الواحد، مع ضرورة التنبيه إلى أن الرقم المعروض لا يشمل محافظة القدس.
المصادر والملاحظات:
- الجهاز المركزي للإحصاء الفلسطيني ووزارة السياحة والآثار، يوم السياحة العالمي 2025: https://www.pcbs.gov.ps/portals/_pcbs/PressRelease/Press_En_WorldTourismDay2025E.pdf
- الصورة: سوق القطانين، yeowatzup، CC BY 2.0. المصدر موثق في content/media/media.json.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حلّنا هو حكاية القدس، مرشد سياحي رقمي عربي أولاً. يخصص المسار بحسب وقت الزائر واهتمامه، يروي من مواد مراجعة فقط، ثم يحول الرحلة إلى سجل شخصي يحفظ الصور والذكريات والتقدم.
المصادر والملاحظات:
- الصورة لقطة حقيقية من النموذج العامل بتاريخ 22 سبتمبر 2026.
- تفاصيل المزايا موثقة في README.md وfrontend/README.md.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الرحلة بسيطة. يحدد الزائر اللغة والوقت والاهتمامات، فيحصل على مسار حتى خمس محطات. خلال الجولة يسمع قصة تناسب عمره وهدفه، وحارس الحقائق يمنع إضافة أسماء أو أرقام من خارج المصدر. وفي النهاية يحفظ صوره وملاحظاته في حكايتي في القدس.
المصادر والملاحظات:
- لقطة حقيقية من الخريطة التفاعلية في النموذج العامل.
- آلية حارس الحقائق موثقة في ai/README.md وai/service/fact_guard.py.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أثر حكاية القدس ثلاثي. نحمي التراث بسجلات مراجعة تميز الحقيقة عن التقليد والرواية الشفوية. نربط الزائر مباشرة بالحرفي والدكان المحلي. ونبني أرشيفاً حياً، لكن كل مساهمة تمر بالمراجعة قبل النشر.
المصادر والملاحظات:
- منهج مراجعة المحتوى موثق في content/README.md.
- صورة ساحة كنيسة القيامة: Luigi Fiorillo، ملكية عامة.
- صورة خباز كعك القدس: Peter van der Sluijs، CC BY-SA 3.0.
- صورة سلوان: Ola Watad،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النموذج يعمل عبر ثماني مواقع مقدسية، ويمر من الواجهة إلى الخادم ثم وحدة الذكاء. اليوم ينجح واحد وسبعون اختباراً آلياً. والأهم أن الاستخدام الفعلي كشف ثلاث مشكلات خفية، أصلحناها قبل العرض وربطناها باختبارات تمنع عودتها.
المصادر والملاحظات:
- نتيجة التحقق بتاريخ 22 سبتمبر 2026: 40 اختبار NestJS و31 اختبار Python، وكلها ناجحة.
- تفاصيل مشكلات الاستخدام والإصلاحات موثقة في docs/improvements.md.
- لقطة حقيقية من صفحة حارة المسلمين في النموذج العامل.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15 ثانية
نص المتحدث:
البنية التقنية جاهزة، لذلك نركز في الثلاثين يوماً القادمة على الاستخدام الحقيقي. نبدأ بجولة ميدانية مع أدلاء، ثم نربط الدكاكين والحرفيين بالمسار، وبعدها نطلق نسخة محسنة للهاتف تمهد لمقارنات الواقع المعزز. نموذج الاستدامة المقترح يبدأ بالشراكات ثم التراخيص المؤسسية.
المصادر والملاحظات:
- الخطة المستقبلية مقترح للفريق وليست التزاماً أو شراكة قائمة.
- الصور التاريخية والمعاصرة وترخيصاتهما موثقة في content/media/media.json.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المستهدفة: 10 ثانية
نص المتحدث:
نحن فريق حكاية القدس من جامعة بيرزيت. لأن القدس مش بس مدينة بنزورها، القدس حكاية بنعيشها. ننتقل الآن معكم إلى العرض الحي للمنتج.
المصادر والملاحظات:
- أدوار الفريق مبنية على طلب المستخدم ووثيقة docs/team-roles.md.
- صورة الخلفية: القدس من جبل الزيتون، الصورة المستخدمة داخل منتج حكاية القدس.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6F0"/>
        </a:solidFill>
      </p:bgPr>
    </p:bg>
    <p:spTree>
      <p:nvGrpSpPr>
        <p:cNvPr id="1" name=""/>
        <p:cNvGrpSpPr/>
        <p:nvPr/>
      </p:nvGrpSpPr>
      <p:grpSpPr>
        <a:xfrm>
          <a:off x="0" y="0"/>
          <a:ext cx="0" cy="0"/>
          <a:chOff x="0" y="0"/>
          <a:chExt cx="0" cy="0"/>
        </a:xfrm>
      </p:grpSpPr>
      <p:pic>
        <p:nvPicPr>
          <p:cNvPr id="2" name="Image 0" descr="Bab al-Amud and its plaza in Jerusalem">    </p:cNvPr>
          <p:cNvPicPr>
            <a:picLocks noChangeAspect="1"/>
          </p:cNvPicPr>
          <p:nvPr/>
        </p:nvPicPr>
        <p:blipFill>
          <a:blip r:embed="rId1"/>
          <a:srcRect l="0" r="0" t="0" b="0"/>
          <a:stretch/>
        </p:blipFill>
        <p:spPr>
          <a:xfrm>
            <a:off x="0" y="0"/>
            <a:ext cx="4892040" cy="6858000"/>
          </a:xfrm>
          <a:prstGeom prst="rect">
            <a:avLst/>
          </a:prstGeom>
        </p:spPr>
      </p:pic>
      <p:sp>
        <p:nvSpPr>
          <p:cNvPr id="3" name="Shape 0"/>
          <p:cNvSpPr/>
          <p:nvPr/>
        </p:nvSpPr>
        <p:spPr>
          <a:xfrm>
            <a:off x="0" y="0"/>
            <a:ext cx="4892040" cy="6858000"/>
          </a:xfrm>
          <a:prstGeom prst="rect">
            <a:avLst/>
          </a:prstGeom>
          <a:solidFill>
            <a:srgbClr val="12130F">
              <a:alpha val="55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4A5D3F">
                <a:alpha val="7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01</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7" name="Image 1" descr="Hikayat AlQuds logo">    </p:cNvPr>
          <p:cNvPicPr>
            <a:picLocks noChangeAspect="1"/>
          </p:cNvPicPr>
          <p:nvPr/>
        </p:nvPicPr>
        <p:blipFill>
          <a:blip r:embed="rId2"/>
          <a:srcRect l="0" r="0" t="0" b="0"/>
          <a:stretch/>
        </p:blipFill>
        <p:spPr>
          <a:xfrm>
            <a:off x="11082528" y="109728"/>
            <a:ext cx="658368" cy="384048"/>
          </a:xfrm>
          <a:prstGeom prst="rect">
            <a:avLst/>
          </a:prstGeom>
        </p:spPr>
      </p:pic>
      <p:sp>
        <p:nvSpPr>
          <p:cNvPr id="8" name="Text 4"/>
          <p:cNvSpPr txBox="1"/>
          <p:nvPr/>
        </p:nvSpPr>
        <p:spPr>
          <a:xfrm>
            <a:off x="5715000" y="667512"/>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الرواية المفقودة والزيارة النمطية</a:t>
            </a:r>
            <a:endParaRPr lang="en-US" sz="3000" dirty="0"/>
          </a:p>
        </p:txBody>
      </p:sp>
      <p:sp>
        <p:nvSpPr>
          <p:cNvPr id="9" name="Text 5"/>
          <p:cNvSpPr txBox="1"/>
          <p:nvPr/>
        </p:nvSpPr>
        <p:spPr>
          <a:xfrm>
            <a:off x="5650992" y="1399032"/>
            <a:ext cx="5833872" cy="1170432"/>
          </a:xfrm>
          <a:prstGeom prst="rect">
            <a:avLst/>
          </a:prstGeom>
          <a:noFill/>
          <a:ln/>
        </p:spPr>
        <p:txBody>
          <a:bodyPr wrap="square" lIns="0" tIns="0" rIns="0" bIns="0" rtlCol="0" anchor="t">
            <a:normAutofit/>
          </a:bodyPr>
          <a:lstStyle/>
          <a:p>
            <a:pPr rtl="1" algn="r" indent="0" marL="0">
              <a:buNone/>
            </a:pPr>
            <a:r>
              <a:rPr lang="en-US" sz="2700" b="1" dirty="0">
                <a:solidFill>
                  <a:srgbClr val="22231F"/>
                </a:solidFill>
                <a:latin typeface="Geeza Pro" pitchFamily="34" charset="0"/>
                <a:ea typeface="Geeza Pro" pitchFamily="34" charset="-122"/>
                <a:cs typeface="Geeza Pro" pitchFamily="34" charset="-120"/>
              </a:rPr>
              <a:t>الزائر يرى المكان، لكنه لا يجد السياق الفلسطيني الذي يربطه بالناس والذاكرة</a:t>
            </a:r>
            <a:endParaRPr lang="en-US" sz="2700" dirty="0"/>
          </a:p>
        </p:txBody>
      </p:sp>
      <p:sp>
        <p:nvSpPr>
          <p:cNvPr id="10" name="Shape 6"/>
          <p:cNvSpPr/>
          <p:nvPr/>
        </p:nvSpPr>
        <p:spPr>
          <a:xfrm>
            <a:off x="5650992" y="2743200"/>
            <a:ext cx="5440680" cy="0"/>
          </a:xfrm>
          <a:prstGeom prst="line">
            <a:avLst/>
          </a:prstGeom>
          <a:noFill/>
          <a:ln w="38100">
            <a:solidFill>
              <a:srgbClr val="D97706"/>
            </a:solidFill>
            <a:prstDash val="solid"/>
          </a:ln>
        </p:spPr>
      </p:sp>
      <p:sp>
        <p:nvSpPr>
          <p:cNvPr id="11" name="Text 7"/>
          <p:cNvSpPr txBox="1"/>
          <p:nvPr/>
        </p:nvSpPr>
        <p:spPr>
          <a:xfrm>
            <a:off x="5650992" y="3145536"/>
            <a:ext cx="384048" cy="292608"/>
          </a:xfrm>
          <a:prstGeom prst="rect">
            <a:avLst/>
          </a:prstGeom>
          <a:noFill/>
          <a:ln/>
        </p:spPr>
        <p:txBody>
          <a:bodyPr wrap="square" lIns="0" tIns="0" rIns="0" bIns="0" rtlCol="0" anchor="ctr">
            <a:normAutofit/>
          </a:bodyPr>
          <a:lstStyle/>
          <a:p>
            <a:pPr algn="l" indent="0" marL="0">
              <a:buNone/>
            </a:pPr>
            <a:r>
              <a:rPr lang="en-US" sz="1100" b="1" dirty="0">
                <a:solidFill>
                  <a:srgbClr val="D97706"/>
                </a:solidFill>
                <a:latin typeface="Arial" pitchFamily="34" charset="0"/>
                <a:ea typeface="Arial" pitchFamily="34" charset="-122"/>
                <a:cs typeface="Arial" pitchFamily="34" charset="-120"/>
              </a:rPr>
              <a:t>01</a:t>
            </a:r>
            <a:endParaRPr lang="en-US" sz="1100" dirty="0"/>
          </a:p>
        </p:txBody>
      </p:sp>
      <p:sp>
        <p:nvSpPr>
          <p:cNvPr id="12" name="Text 8"/>
          <p:cNvSpPr txBox="1"/>
          <p:nvPr/>
        </p:nvSpPr>
        <p:spPr>
          <a:xfrm>
            <a:off x="6172200" y="3072384"/>
            <a:ext cx="5047488" cy="502920"/>
          </a:xfrm>
          <a:prstGeom prst="rect">
            <a:avLst/>
          </a:prstGeom>
          <a:noFill/>
          <a:ln/>
        </p:spPr>
        <p:txBody>
          <a:bodyPr wrap="square" lIns="0" tIns="0" rIns="0" bIns="0" rtlCol="0" anchor="ctr">
            <a:normAutofit/>
          </a:bodyPr>
          <a:lstStyle/>
          <a:p>
            <a:pPr rtl="1" algn="r" indent="0" marL="0">
              <a:buNone/>
            </a:pPr>
            <a:r>
              <a:rPr lang="en-US" sz="1750" dirty="0">
                <a:solidFill>
                  <a:srgbClr val="303B2B"/>
                </a:solidFill>
                <a:latin typeface="Geeza Pro" pitchFamily="34" charset="0"/>
                <a:ea typeface="Geeza Pro" pitchFamily="34" charset="-122"/>
                <a:cs typeface="Geeza Pro" pitchFamily="34" charset="-120"/>
              </a:rPr>
              <a:t>معلومات متناثرة أو روايات لا تكشف عمق الحارة</a:t>
            </a:r>
            <a:endParaRPr lang="en-US" sz="1750" dirty="0"/>
          </a:p>
        </p:txBody>
      </p:sp>
      <p:sp>
        <p:nvSpPr>
          <p:cNvPr id="13" name="Text 9"/>
          <p:cNvSpPr txBox="1"/>
          <p:nvPr/>
        </p:nvSpPr>
        <p:spPr>
          <a:xfrm>
            <a:off x="5650992" y="3931920"/>
            <a:ext cx="384048" cy="292608"/>
          </a:xfrm>
          <a:prstGeom prst="rect">
            <a:avLst/>
          </a:prstGeom>
          <a:noFill/>
          <a:ln/>
        </p:spPr>
        <p:txBody>
          <a:bodyPr wrap="square" lIns="0" tIns="0" rIns="0" bIns="0" rtlCol="0" anchor="ctr">
            <a:normAutofit/>
          </a:bodyPr>
          <a:lstStyle/>
          <a:p>
            <a:pPr algn="l" indent="0" marL="0">
              <a:buNone/>
            </a:pPr>
            <a:r>
              <a:rPr lang="en-US" sz="1100" b="1" dirty="0">
                <a:solidFill>
                  <a:srgbClr val="D97706"/>
                </a:solidFill>
                <a:latin typeface="Arial" pitchFamily="34" charset="0"/>
                <a:ea typeface="Arial" pitchFamily="34" charset="-122"/>
                <a:cs typeface="Arial" pitchFamily="34" charset="-120"/>
              </a:rPr>
              <a:t>02</a:t>
            </a:r>
            <a:endParaRPr lang="en-US" sz="1100" dirty="0"/>
          </a:p>
        </p:txBody>
      </p:sp>
      <p:sp>
        <p:nvSpPr>
          <p:cNvPr id="14" name="Text 10"/>
          <p:cNvSpPr txBox="1"/>
          <p:nvPr/>
        </p:nvSpPr>
        <p:spPr>
          <a:xfrm>
            <a:off x="6172200" y="3858768"/>
            <a:ext cx="5047488" cy="502920"/>
          </a:xfrm>
          <a:prstGeom prst="rect">
            <a:avLst/>
          </a:prstGeom>
          <a:noFill/>
          <a:ln/>
        </p:spPr>
        <p:txBody>
          <a:bodyPr wrap="square" lIns="0" tIns="0" rIns="0" bIns="0" rtlCol="0" anchor="ctr">
            <a:normAutofit/>
          </a:bodyPr>
          <a:lstStyle/>
          <a:p>
            <a:pPr rtl="1" algn="r" indent="0" marL="0">
              <a:buNone/>
            </a:pPr>
            <a:r>
              <a:rPr lang="en-US" sz="1750" b="1" dirty="0">
                <a:solidFill>
                  <a:srgbClr val="303B2B"/>
                </a:solidFill>
                <a:latin typeface="Geeza Pro" pitchFamily="34" charset="0"/>
                <a:ea typeface="Geeza Pro" pitchFamily="34" charset="-122"/>
                <a:cs typeface="Geeza Pro" pitchFamily="34" charset="-120"/>
              </a:rPr>
              <a:t>مسار عام لا يراعي وقت الزائر أو لغته أو اهتماماته</a:t>
            </a:r>
            <a:endParaRPr lang="en-US" sz="1750" dirty="0"/>
          </a:p>
        </p:txBody>
      </p:sp>
      <p:sp>
        <p:nvSpPr>
          <p:cNvPr id="15" name="Text 11"/>
          <p:cNvSpPr txBox="1"/>
          <p:nvPr/>
        </p:nvSpPr>
        <p:spPr>
          <a:xfrm>
            <a:off x="5650992" y="4718304"/>
            <a:ext cx="384048" cy="292608"/>
          </a:xfrm>
          <a:prstGeom prst="rect">
            <a:avLst/>
          </a:prstGeom>
          <a:noFill/>
          <a:ln/>
        </p:spPr>
        <p:txBody>
          <a:bodyPr wrap="square" lIns="0" tIns="0" rIns="0" bIns="0" rtlCol="0" anchor="ctr">
            <a:normAutofit/>
          </a:bodyPr>
          <a:lstStyle/>
          <a:p>
            <a:pPr algn="l" indent="0" marL="0">
              <a:buNone/>
            </a:pPr>
            <a:r>
              <a:rPr lang="en-US" sz="1100" b="1" dirty="0">
                <a:solidFill>
                  <a:srgbClr val="D97706"/>
                </a:solidFill>
                <a:latin typeface="Arial" pitchFamily="34" charset="0"/>
                <a:ea typeface="Arial" pitchFamily="34" charset="-122"/>
                <a:cs typeface="Arial" pitchFamily="34" charset="-120"/>
              </a:rPr>
              <a:t>03</a:t>
            </a:r>
            <a:endParaRPr lang="en-US" sz="1100" dirty="0"/>
          </a:p>
        </p:txBody>
      </p:sp>
      <p:sp>
        <p:nvSpPr>
          <p:cNvPr id="16" name="Text 12"/>
          <p:cNvSpPr txBox="1"/>
          <p:nvPr/>
        </p:nvSpPr>
        <p:spPr>
          <a:xfrm>
            <a:off x="6172200" y="4645152"/>
            <a:ext cx="5047488" cy="502920"/>
          </a:xfrm>
          <a:prstGeom prst="rect">
            <a:avLst/>
          </a:prstGeom>
          <a:noFill/>
          <a:ln/>
        </p:spPr>
        <p:txBody>
          <a:bodyPr wrap="square" lIns="0" tIns="0" rIns="0" bIns="0" rtlCol="0" anchor="ctr">
            <a:normAutofit/>
          </a:bodyPr>
          <a:lstStyle/>
          <a:p>
            <a:pPr rtl="1" algn="r" indent="0" marL="0">
              <a:buNone/>
            </a:pPr>
            <a:r>
              <a:rPr lang="en-US" sz="1750" dirty="0">
                <a:solidFill>
                  <a:srgbClr val="303B2B"/>
                </a:solidFill>
                <a:latin typeface="Geeza Pro" pitchFamily="34" charset="0"/>
                <a:ea typeface="Geeza Pro" pitchFamily="34" charset="-122"/>
                <a:cs typeface="Geeza Pro" pitchFamily="34" charset="-120"/>
              </a:rPr>
              <a:t>الحرفي والذاكرة المحلية خارج التجربة السياحية الرقمية</a:t>
            </a:r>
            <a:endParaRPr lang="en-US" sz="1750" dirty="0"/>
          </a:p>
        </p:txBody>
      </p:sp>
      <p:sp>
        <p:nvSpPr>
          <p:cNvPr id="17" name="Text 13"/>
          <p:cNvSpPr txBox="1"/>
          <p:nvPr/>
        </p:nvSpPr>
        <p:spPr>
          <a:xfrm>
            <a:off x="502920" y="5650992"/>
            <a:ext cx="3840480" cy="658368"/>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حماية الذاكرة المقدسية تبدأ حين نعيد ربط المكان بصوته المحلي</a:t>
            </a:r>
            <a:endParaRPr lang="en-US" sz="1900" dirty="0"/>
          </a:p>
        </p:txBody>
      </p:sp>
      <p:sp>
        <p:nvSpPr>
          <p:cNvPr id="18" name="Text 14"/>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0"/>
        </a:solidFill>
      </p:bgPr>
    </p:bg>
    <p:spTree>
      <p:nvGrpSpPr>
        <p:cNvPr id="1" name=""/>
        <p:cNvGrpSpPr/>
        <p:nvPr/>
      </p:nvGrpSpPr>
      <p:grpSpPr>
        <a:xfrm>
          <a:off x="0" y="0"/>
          <a:ext cx="0" cy="0"/>
          <a:chOff x="0" y="0"/>
          <a:chExt cx="0" cy="0"/>
        </a:xfrm>
      </p:grpSpPr>
      <p:pic>
        <p:nvPicPr>
          <p:cNvPr id="2" name="Image 0" descr="Souq al-Qattanin in Jerusalem">    </p:cNvPr>
          <p:cNvPicPr>
            <a:picLocks noChangeAspect="1"/>
          </p:cNvPicPr>
          <p:nvPr/>
        </p:nvPicPr>
        <p:blipFill>
          <a:blip r:embed="rId1"/>
          <a:srcRect l="0" r="0" t="0" b="0"/>
          <a:stretch/>
        </p:blipFill>
        <p:spPr>
          <a:xfrm>
            <a:off x="0" y="0"/>
            <a:ext cx="5486400" cy="6858000"/>
          </a:xfrm>
          <a:prstGeom prst="rect">
            <a:avLst/>
          </a:prstGeom>
        </p:spPr>
      </p:pic>
      <p:sp>
        <p:nvSpPr>
          <p:cNvPr id="3" name="Shape 0"/>
          <p:cNvSpPr/>
          <p:nvPr/>
        </p:nvSpPr>
        <p:spPr>
          <a:xfrm>
            <a:off x="0" y="0"/>
            <a:ext cx="5486400" cy="6858000"/>
          </a:xfrm>
          <a:prstGeom prst="rect">
            <a:avLst/>
          </a:prstGeom>
          <a:solidFill>
            <a:srgbClr val="12364B">
              <a:alpha val="70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4A5D3F">
                <a:alpha val="7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02</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7" name="Image 1" descr="Hikayat AlQuds logo">    </p:cNvPr>
          <p:cNvPicPr>
            <a:picLocks noChangeAspect="1"/>
          </p:cNvPicPr>
          <p:nvPr/>
        </p:nvPicPr>
        <p:blipFill>
          <a:blip r:embed="rId2"/>
          <a:srcRect l="0" r="0" t="0" b="0"/>
          <a:stretch/>
        </p:blipFill>
        <p:spPr>
          <a:xfrm>
            <a:off x="11082528" y="109728"/>
            <a:ext cx="658368" cy="384048"/>
          </a:xfrm>
          <a:prstGeom prst="rect">
            <a:avLst/>
          </a:prstGeom>
        </p:spPr>
      </p:pic>
      <p:sp>
        <p:nvSpPr>
          <p:cNvPr id="8" name="Text 4"/>
          <p:cNvSpPr txBox="1"/>
          <p:nvPr/>
        </p:nvSpPr>
        <p:spPr>
          <a:xfrm>
            <a:off x="5715000" y="612648"/>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لمن نروي حكاية القدس؟</a:t>
            </a:r>
            <a:endParaRPr lang="en-US" sz="3000" dirty="0"/>
          </a:p>
        </p:txBody>
      </p:sp>
      <p:sp>
        <p:nvSpPr>
          <p:cNvPr id="9" name="Text 5"/>
          <p:cNvSpPr txBox="1"/>
          <p:nvPr/>
        </p:nvSpPr>
        <p:spPr>
          <a:xfrm>
            <a:off x="5779008" y="1298448"/>
            <a:ext cx="5486400" cy="502920"/>
          </a:xfrm>
          <a:prstGeom prst="rect">
            <a:avLst/>
          </a:prstGeom>
          <a:noFill/>
          <a:ln/>
        </p:spPr>
        <p:txBody>
          <a:bodyPr wrap="square" lIns="0" tIns="0" rIns="0" bIns="0" rtlCol="0" anchor="ctr">
            <a:normAutofit/>
          </a:bodyPr>
          <a:lstStyle/>
          <a:p>
            <a:pPr rtl="1" algn="r" indent="0" marL="0">
              <a:buNone/>
            </a:pPr>
            <a:r>
              <a:rPr lang="en-US" sz="1900" b="1" dirty="0">
                <a:solidFill>
                  <a:srgbClr val="D97706"/>
                </a:solidFill>
                <a:latin typeface="Geeza Pro" pitchFamily="34" charset="0"/>
                <a:ea typeface="Geeza Pro" pitchFamily="34" charset="-122"/>
                <a:cs typeface="Geeza Pro" pitchFamily="34" charset="-120"/>
              </a:rPr>
              <a:t>سوق قريب يبحث عن تجربة محلية موثوقة</a:t>
            </a:r>
            <a:endParaRPr lang="en-US" sz="1900" dirty="0"/>
          </a:p>
        </p:txBody>
      </p:sp>
      <p:sp>
        <p:nvSpPr>
          <p:cNvPr id="10" name="Text 6"/>
          <p:cNvSpPr txBox="1"/>
          <p:nvPr/>
        </p:nvSpPr>
        <p:spPr>
          <a:xfrm>
            <a:off x="5715000" y="1764792"/>
            <a:ext cx="2880360" cy="713232"/>
          </a:xfrm>
          <a:prstGeom prst="rect">
            <a:avLst/>
          </a:prstGeom>
          <a:noFill/>
          <a:ln/>
        </p:spPr>
        <p:txBody>
          <a:bodyPr wrap="square" lIns="0" tIns="0" rIns="0" bIns="0" rtlCol="0" anchor="ctr">
            <a:normAutofit/>
          </a:bodyPr>
          <a:lstStyle/>
          <a:p>
            <a:pPr rtl="1" algn="r" indent="0" marL="0">
              <a:buNone/>
            </a:pPr>
            <a:r>
              <a:rPr lang="en-US" sz="3700" b="1" dirty="0">
                <a:solidFill>
                  <a:srgbClr val="303B2B"/>
                </a:solidFill>
                <a:latin typeface="Geeza Pro" pitchFamily="34" charset="0"/>
                <a:ea typeface="Geeza Pro" pitchFamily="34" charset="-122"/>
                <a:cs typeface="Geeza Pro" pitchFamily="34" charset="-120"/>
              </a:rPr>
              <a:t>٢٫٦ مليون</a:t>
            </a:r>
            <a:endParaRPr lang="en-US" sz="3700" dirty="0"/>
          </a:p>
        </p:txBody>
      </p:sp>
      <p:sp>
        <p:nvSpPr>
          <p:cNvPr id="11" name="Text 7"/>
          <p:cNvSpPr txBox="1"/>
          <p:nvPr/>
        </p:nvSpPr>
        <p:spPr>
          <a:xfrm>
            <a:off x="8357616" y="1792224"/>
            <a:ext cx="2807208" cy="685800"/>
          </a:xfrm>
          <a:prstGeom prst="rect">
            <a:avLst/>
          </a:prstGeom>
          <a:noFill/>
          <a:ln/>
        </p:spPr>
        <p:txBody>
          <a:bodyPr wrap="square" lIns="0" tIns="0" rIns="0" bIns="0" rtlCol="0" anchor="ctr">
            <a:normAutofit/>
          </a:bodyPr>
          <a:lstStyle/>
          <a:p>
            <a:pPr rtl="1" algn="r" indent="0" marL="0">
              <a:buNone/>
            </a:pPr>
            <a:r>
              <a:rPr lang="en-US" sz="1650" b="1" dirty="0">
                <a:solidFill>
                  <a:srgbClr val="22231F"/>
                </a:solidFill>
                <a:latin typeface="Geeza Pro" pitchFamily="34" charset="0"/>
                <a:ea typeface="Geeza Pro" pitchFamily="34" charset="-122"/>
                <a:cs typeface="Geeza Pro" pitchFamily="34" charset="-120"/>
              </a:rPr>
              <a:t>زيارة يوم واحد للمواقع السياحية الفلسطينية في النصف الأول من ٢٠٢٥</a:t>
            </a:r>
            <a:endParaRPr lang="en-US" sz="1650" dirty="0"/>
          </a:p>
        </p:txBody>
      </p:sp>
      <p:sp>
        <p:nvSpPr>
          <p:cNvPr id="12" name="Text 8"/>
          <p:cNvSpPr txBox="1"/>
          <p:nvPr/>
        </p:nvSpPr>
        <p:spPr>
          <a:xfrm>
            <a:off x="5760720" y="2596896"/>
            <a:ext cx="5376672" cy="429768"/>
          </a:xfrm>
          <a:prstGeom prst="rect">
            <a:avLst/>
          </a:prstGeom>
          <a:noFill/>
          <a:ln/>
        </p:spPr>
        <p:txBody>
          <a:bodyPr wrap="square" lIns="0" tIns="0" rIns="0" bIns="0" rtlCol="0" anchor="ctr">
            <a:normAutofit/>
          </a:bodyPr>
          <a:lstStyle/>
          <a:p>
            <a:pPr rtl="1" algn="r" indent="0" marL="0">
              <a:buNone/>
            </a:pPr>
            <a:r>
              <a:rPr lang="en-US" sz="1700" b="1" dirty="0">
                <a:solidFill>
                  <a:srgbClr val="4A5D3F"/>
                </a:solidFill>
                <a:latin typeface="Geeza Pro" pitchFamily="34" charset="0"/>
                <a:ea typeface="Geeza Pro" pitchFamily="34" charset="-122"/>
                <a:cs typeface="Geeza Pro" pitchFamily="34" charset="-120"/>
              </a:rPr>
              <a:t>١٫٥٨ مليون منها لفلسطينيين من الداخل</a:t>
            </a:r>
            <a:endParaRPr lang="en-US" sz="1700" dirty="0"/>
          </a:p>
        </p:txBody>
      </p:sp>
      <p:sp>
        <p:nvSpPr>
          <p:cNvPr id="13" name="Shape 9"/>
          <p:cNvSpPr/>
          <p:nvPr/>
        </p:nvSpPr>
        <p:spPr>
          <a:xfrm>
            <a:off x="5760720" y="3154680"/>
            <a:ext cx="5376672" cy="0"/>
          </a:xfrm>
          <a:prstGeom prst="line">
            <a:avLst/>
          </a:prstGeom>
          <a:noFill/>
          <a:ln w="15240">
            <a:solidFill>
              <a:srgbClr val="E7E1D5"/>
            </a:solidFill>
            <a:prstDash val="solid"/>
          </a:ln>
        </p:spPr>
      </p:sp>
      <p:sp>
        <p:nvSpPr>
          <p:cNvPr id="14" name="Text 10"/>
          <p:cNvSpPr txBox="1"/>
          <p:nvPr/>
        </p:nvSpPr>
        <p:spPr>
          <a:xfrm>
            <a:off x="9326880" y="3438144"/>
            <a:ext cx="1783080" cy="329184"/>
          </a:xfrm>
          <a:prstGeom prst="rect">
            <a:avLst/>
          </a:prstGeom>
          <a:noFill/>
          <a:ln/>
        </p:spPr>
        <p:txBody>
          <a:bodyPr wrap="square" lIns="0" tIns="0" rIns="0" bIns="0" rtlCol="0" anchor="ctr">
            <a:normAutofit/>
          </a:bodyPr>
          <a:lstStyle/>
          <a:p>
            <a:pPr rtl="1" algn="r" indent="0" marL="0">
              <a:buNone/>
            </a:pPr>
            <a:r>
              <a:rPr lang="en-US" sz="1650" b="1" dirty="0">
                <a:solidFill>
                  <a:srgbClr val="D97706"/>
                </a:solidFill>
                <a:latin typeface="Geeza Pro" pitchFamily="34" charset="0"/>
                <a:ea typeface="Geeza Pro" pitchFamily="34" charset="-122"/>
                <a:cs typeface="Geeza Pro" pitchFamily="34" charset="-120"/>
              </a:rPr>
              <a:t>الزائر أولاً</a:t>
            </a:r>
            <a:endParaRPr lang="en-US" sz="1650" dirty="0"/>
          </a:p>
        </p:txBody>
      </p:sp>
      <p:sp>
        <p:nvSpPr>
          <p:cNvPr id="15" name="Text 11"/>
          <p:cNvSpPr txBox="1"/>
          <p:nvPr/>
        </p:nvSpPr>
        <p:spPr>
          <a:xfrm>
            <a:off x="5760720" y="3456432"/>
            <a:ext cx="3310128" cy="530352"/>
          </a:xfrm>
          <a:prstGeom prst="rect">
            <a:avLst/>
          </a:prstGeom>
          <a:noFill/>
          <a:ln/>
        </p:spPr>
        <p:txBody>
          <a:bodyPr wrap="square" lIns="0" tIns="0" rIns="0" bIns="0" rtlCol="0" anchor="ctr">
            <a:normAutofit/>
          </a:bodyPr>
          <a:lstStyle/>
          <a:p>
            <a:pPr rtl="1" algn="r" indent="0" marL="0">
              <a:buNone/>
            </a:pPr>
            <a:r>
              <a:rPr lang="en-US" sz="1550" dirty="0">
                <a:solidFill>
                  <a:srgbClr val="22231F"/>
                </a:solidFill>
                <a:latin typeface="Geeza Pro" pitchFamily="34" charset="0"/>
                <a:ea typeface="Geeza Pro" pitchFamily="34" charset="-122"/>
                <a:cs typeface="Geeza Pro" pitchFamily="34" charset="-120"/>
              </a:rPr>
              <a:t>محليون، فلسطينيو الداخل والشتات، وزوار دوليون</a:t>
            </a:r>
            <a:endParaRPr lang="en-US" sz="1550" dirty="0"/>
          </a:p>
        </p:txBody>
      </p:sp>
      <p:sp>
        <p:nvSpPr>
          <p:cNvPr id="16" name="Text 12"/>
          <p:cNvSpPr txBox="1"/>
          <p:nvPr/>
        </p:nvSpPr>
        <p:spPr>
          <a:xfrm>
            <a:off x="9326880" y="4224528"/>
            <a:ext cx="1783080" cy="329184"/>
          </a:xfrm>
          <a:prstGeom prst="rect">
            <a:avLst/>
          </a:prstGeom>
          <a:noFill/>
          <a:ln/>
        </p:spPr>
        <p:txBody>
          <a:bodyPr wrap="square" lIns="0" tIns="0" rIns="0" bIns="0" rtlCol="0" anchor="ctr">
            <a:normAutofit/>
          </a:bodyPr>
          <a:lstStyle/>
          <a:p>
            <a:pPr rtl="1" algn="r" indent="0" marL="0">
              <a:buNone/>
            </a:pPr>
            <a:r>
              <a:rPr lang="en-US" sz="1650" b="1" dirty="0">
                <a:solidFill>
                  <a:srgbClr val="D97706"/>
                </a:solidFill>
                <a:latin typeface="Geeza Pro" pitchFamily="34" charset="0"/>
                <a:ea typeface="Geeza Pro" pitchFamily="34" charset="-122"/>
                <a:cs typeface="Geeza Pro" pitchFamily="34" charset="-120"/>
              </a:rPr>
              <a:t>التعلّم</a:t>
            </a:r>
            <a:endParaRPr lang="en-US" sz="1650" dirty="0"/>
          </a:p>
        </p:txBody>
      </p:sp>
      <p:sp>
        <p:nvSpPr>
          <p:cNvPr id="17" name="Text 13"/>
          <p:cNvSpPr txBox="1"/>
          <p:nvPr/>
        </p:nvSpPr>
        <p:spPr>
          <a:xfrm>
            <a:off x="5760720" y="4242816"/>
            <a:ext cx="3310128" cy="530352"/>
          </a:xfrm>
          <a:prstGeom prst="rect">
            <a:avLst/>
          </a:prstGeom>
          <a:noFill/>
          <a:ln/>
        </p:spPr>
        <p:txBody>
          <a:bodyPr wrap="square" lIns="0" tIns="0" rIns="0" bIns="0" rtlCol="0" anchor="ctr">
            <a:normAutofit/>
          </a:bodyPr>
          <a:lstStyle/>
          <a:p>
            <a:pPr rtl="1" algn="r" indent="0" marL="0">
              <a:buNone/>
            </a:pPr>
            <a:r>
              <a:rPr lang="en-US" sz="1550" dirty="0">
                <a:solidFill>
                  <a:srgbClr val="22231F"/>
                </a:solidFill>
                <a:latin typeface="Geeza Pro" pitchFamily="34" charset="0"/>
                <a:ea typeface="Geeza Pro" pitchFamily="34" charset="-122"/>
                <a:cs typeface="Geeza Pro" pitchFamily="34" charset="-120"/>
              </a:rPr>
              <a:t>مدارس وجامعات تحتاج محتوى موثوقاً ومسارات قابلة للتخصيص</a:t>
            </a:r>
            <a:endParaRPr lang="en-US" sz="1550" dirty="0"/>
          </a:p>
        </p:txBody>
      </p:sp>
      <p:sp>
        <p:nvSpPr>
          <p:cNvPr id="18" name="Text 14"/>
          <p:cNvSpPr txBox="1"/>
          <p:nvPr/>
        </p:nvSpPr>
        <p:spPr>
          <a:xfrm>
            <a:off x="9326880" y="5010912"/>
            <a:ext cx="1783080" cy="329184"/>
          </a:xfrm>
          <a:prstGeom prst="rect">
            <a:avLst/>
          </a:prstGeom>
          <a:noFill/>
          <a:ln/>
        </p:spPr>
        <p:txBody>
          <a:bodyPr wrap="square" lIns="0" tIns="0" rIns="0" bIns="0" rtlCol="0" anchor="ctr">
            <a:normAutofit/>
          </a:bodyPr>
          <a:lstStyle/>
          <a:p>
            <a:pPr rtl="1" algn="r" indent="0" marL="0">
              <a:buNone/>
            </a:pPr>
            <a:r>
              <a:rPr lang="en-US" sz="1650" b="1" dirty="0">
                <a:solidFill>
                  <a:srgbClr val="D97706"/>
                </a:solidFill>
                <a:latin typeface="Geeza Pro" pitchFamily="34" charset="0"/>
                <a:ea typeface="Geeza Pro" pitchFamily="34" charset="-122"/>
                <a:cs typeface="Geeza Pro" pitchFamily="34" charset="-120"/>
              </a:rPr>
              <a:t>اقتصاد الحارة</a:t>
            </a:r>
            <a:endParaRPr lang="en-US" sz="1650" dirty="0"/>
          </a:p>
        </p:txBody>
      </p:sp>
      <p:sp>
        <p:nvSpPr>
          <p:cNvPr id="19" name="Text 15"/>
          <p:cNvSpPr txBox="1"/>
          <p:nvPr/>
        </p:nvSpPr>
        <p:spPr>
          <a:xfrm>
            <a:off x="5760720" y="5029200"/>
            <a:ext cx="3310128" cy="530352"/>
          </a:xfrm>
          <a:prstGeom prst="rect">
            <a:avLst/>
          </a:prstGeom>
          <a:noFill/>
          <a:ln/>
        </p:spPr>
        <p:txBody>
          <a:bodyPr wrap="square" lIns="0" tIns="0" rIns="0" bIns="0" rtlCol="0" anchor="ctr">
            <a:normAutofit/>
          </a:bodyPr>
          <a:lstStyle/>
          <a:p>
            <a:pPr rtl="1" algn="r" indent="0" marL="0">
              <a:buNone/>
            </a:pPr>
            <a:r>
              <a:rPr lang="en-US" sz="1550" dirty="0">
                <a:solidFill>
                  <a:srgbClr val="22231F"/>
                </a:solidFill>
                <a:latin typeface="Geeza Pro" pitchFamily="34" charset="0"/>
                <a:ea typeface="Geeza Pro" pitchFamily="34" charset="-122"/>
                <a:cs typeface="Geeza Pro" pitchFamily="34" charset="-120"/>
              </a:rPr>
              <a:t>حرفيون، دكاكين تراثية، وأدلاء محليون يريدون وصولاً مباشراً</a:t>
            </a:r>
            <a:endParaRPr lang="en-US" sz="1550" dirty="0"/>
          </a:p>
        </p:txBody>
      </p:sp>
      <p:sp>
        <p:nvSpPr>
          <p:cNvPr id="20" name="Text 16"/>
          <p:cNvSpPr txBox="1"/>
          <p:nvPr/>
        </p:nvSpPr>
        <p:spPr>
          <a:xfrm>
            <a:off x="5760720" y="5998464"/>
            <a:ext cx="5394960" cy="237744"/>
          </a:xfrm>
          <a:prstGeom prst="rect">
            <a:avLst/>
          </a:prstGeom>
          <a:noFill/>
          <a:ln/>
        </p:spPr>
        <p:txBody>
          <a:bodyPr wrap="square" lIns="0" tIns="0" rIns="0" bIns="0" rtlCol="0" anchor="ctr">
            <a:normAutofit/>
          </a:bodyPr>
          <a:lstStyle/>
          <a:p>
            <a:pPr rtl="1" algn="r" indent="0" marL="0">
              <a:buNone/>
            </a:pPr>
            <a:r>
              <a:rPr lang="en-US" sz="950" dirty="0">
                <a:solidFill>
                  <a:srgbClr val="74756C"/>
                </a:solidFill>
                <a:latin typeface="Geeza Pro" pitchFamily="34" charset="0"/>
                <a:ea typeface="Geeza Pro" pitchFamily="34" charset="-122"/>
                <a:cs typeface="Geeza Pro" pitchFamily="34" charset="-120"/>
              </a:rPr>
              <a:t>مؤشر السوق من الضفة الغربية، ولا تشمل بيانات الزيارات محافظة القدس</a:t>
            </a:r>
            <a:endParaRPr lang="en-US" sz="950" dirty="0"/>
          </a:p>
        </p:txBody>
      </p:sp>
      <p:sp>
        <p:nvSpPr>
          <p:cNvPr id="21" name="Text 17"/>
          <p:cNvSpPr txBox="1"/>
          <p:nvPr/>
        </p:nvSpPr>
        <p:spPr>
          <a:xfrm>
            <a:off x="475488" y="5532120"/>
            <a:ext cx="4498848" cy="749808"/>
          </a:xfrm>
          <a:prstGeom prst="rect">
            <a:avLst/>
          </a:prstGeom>
          <a:noFill/>
          <a:ln/>
        </p:spPr>
        <p:txBody>
          <a:bodyPr wrap="square" lIns="0" tIns="0" rIns="0" bIns="0" rtlCol="0" anchor="ctr">
            <a:normAutofit/>
          </a:bodyPr>
          <a:lstStyle/>
          <a:p>
            <a:pPr rtl="1" algn="r" indent="0" marL="0">
              <a:buNone/>
            </a:pPr>
            <a:r>
              <a:rPr lang="en-US" sz="2000" b="1" dirty="0">
                <a:solidFill>
                  <a:srgbClr val="FFFFFF"/>
                </a:solidFill>
                <a:latin typeface="Geeza Pro" pitchFamily="34" charset="0"/>
                <a:ea typeface="Geeza Pro" pitchFamily="34" charset="-122"/>
                <a:cs typeface="Geeza Pro" pitchFamily="34" charset="-120"/>
              </a:rPr>
              <a:t>السوق ليس مجرد عدد زوار، بل شبكة أشخاص يحتاجون رواية ومكاناً واقتصاداً متصلاً</a:t>
            </a:r>
            <a:endParaRPr lang="en-US" sz="2000" dirty="0"/>
          </a:p>
        </p:txBody>
      </p:sp>
      <p:sp>
        <p:nvSpPr>
          <p:cNvPr id="22" name="Text 18"/>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347472" y="301752"/>
            <a:ext cx="2926080" cy="0"/>
          </a:xfrm>
          <a:prstGeom prst="line">
            <a:avLst/>
          </a:prstGeom>
          <a:noFill/>
          <a:ln w="12700">
            <a:solidFill>
              <a:srgbClr val="4A5D3F">
                <a:alpha val="70000"/>
              </a:srgbClr>
            </a:solidFill>
            <a:prstDash val="solid"/>
          </a:ln>
        </p:spPr>
      </p:sp>
      <p:sp>
        <p:nvSpPr>
          <p:cNvPr id="3" name="Text 1"/>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03</a:t>
            </a:r>
            <a:endParaRPr lang="en-US" sz="900" dirty="0"/>
          </a:p>
        </p:txBody>
      </p:sp>
      <p:sp>
        <p:nvSpPr>
          <p:cNvPr id="4" name="Text 2"/>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5" name="Image 0" descr="Hikayat AlQuds logo">    </p:cNvPr>
          <p:cNvPicPr>
            <a:picLocks noChangeAspect="1"/>
          </p:cNvPicPr>
          <p:nvPr/>
        </p:nvPicPr>
        <p:blipFill>
          <a:blip r:embed="rId1"/>
          <a:srcRect l="0" r="0" t="0" b="0"/>
          <a:stretch/>
        </p:blipFill>
        <p:spPr>
          <a:xfrm>
            <a:off x="11082528" y="109728"/>
            <a:ext cx="658368" cy="384048"/>
          </a:xfrm>
          <a:prstGeom prst="rect">
            <a:avLst/>
          </a:prstGeom>
        </p:spPr>
      </p:pic>
      <p:sp>
        <p:nvSpPr>
          <p:cNvPr id="6" name="Text 3"/>
          <p:cNvSpPr txBox="1"/>
          <p:nvPr/>
        </p:nvSpPr>
        <p:spPr>
          <a:xfrm>
            <a:off x="5715000" y="603504"/>
            <a:ext cx="5989320" cy="566928"/>
          </a:xfrm>
          <a:prstGeom prst="rect">
            <a:avLst/>
          </a:prstGeom>
          <a:noFill/>
          <a:ln/>
        </p:spPr>
        <p:txBody>
          <a:bodyPr wrap="square" lIns="0" tIns="0" rIns="0" bIns="0" rtlCol="0" anchor="ctr">
            <a:normAutofit/>
          </a:bodyPr>
          <a:lstStyle/>
          <a:p>
            <a:pPr rtl="1" algn="r" indent="0" marL="0">
              <a:buNone/>
            </a:pPr>
            <a:r>
              <a:rPr lang="en-US" sz="2900" b="1" dirty="0">
                <a:solidFill>
                  <a:srgbClr val="4A5D3F"/>
                </a:solidFill>
                <a:latin typeface="Geeza Pro" pitchFamily="34" charset="0"/>
                <a:ea typeface="Geeza Pro" pitchFamily="34" charset="-122"/>
                <a:cs typeface="Geeza Pro" pitchFamily="34" charset="-120"/>
              </a:rPr>
              <a:t>حكاية القدس، مرشدك الذكي لعيش القصة</a:t>
            </a:r>
            <a:endParaRPr lang="en-US" sz="2900" dirty="0"/>
          </a:p>
        </p:txBody>
      </p:sp>
      <p:sp>
        <p:nvSpPr>
          <p:cNvPr id="7" name="Text 4"/>
          <p:cNvSpPr txBox="1"/>
          <p:nvPr/>
        </p:nvSpPr>
        <p:spPr>
          <a:xfrm>
            <a:off x="4206240" y="1143000"/>
            <a:ext cx="7269480" cy="502920"/>
          </a:xfrm>
          <a:prstGeom prst="rect">
            <a:avLst/>
          </a:prstGeom>
          <a:noFill/>
          <a:ln/>
        </p:spPr>
        <p:txBody>
          <a:bodyPr wrap="square" lIns="0" tIns="0" rIns="0" bIns="0" rtlCol="0" anchor="ctr">
            <a:normAutofit/>
          </a:bodyPr>
          <a:lstStyle/>
          <a:p>
            <a:pPr rtl="1" algn="r" indent="0" marL="0">
              <a:buNone/>
            </a:pPr>
            <a:r>
              <a:rPr lang="en-US" sz="2000" b="1" dirty="0">
                <a:solidFill>
                  <a:srgbClr val="22231F"/>
                </a:solidFill>
                <a:latin typeface="Geeza Pro" pitchFamily="34" charset="0"/>
                <a:ea typeface="Geeza Pro" pitchFamily="34" charset="-122"/>
                <a:cs typeface="Geeza Pro" pitchFamily="34" charset="-120"/>
              </a:rPr>
              <a:t>منصة عربية أولاً تخصّص المسار، تروي من مصادر مراجعة، وتحفظ أثر الزيارة</a:t>
            </a:r>
            <a:endParaRPr lang="en-US" sz="2000" dirty="0"/>
          </a:p>
        </p:txBody>
      </p:sp>
      <p:sp>
        <p:nvSpPr>
          <p:cNvPr id="8" name="Shape 5"/>
          <p:cNvSpPr/>
          <p:nvPr/>
        </p:nvSpPr>
        <p:spPr>
          <a:xfrm>
            <a:off x="594360" y="1783080"/>
            <a:ext cx="11018520" cy="4251960"/>
          </a:xfrm>
          <a:prstGeom prst="roundRect">
            <a:avLst>
              <a:gd name="adj" fmla="val 2581"/>
            </a:avLst>
          </a:prstGeom>
          <a:solidFill>
            <a:srgbClr val="FFFFFF"/>
          </a:solidFill>
          <a:ln w="12700">
            <a:solidFill>
              <a:srgbClr val="E7E1D5"/>
            </a:solidFill>
            <a:prstDash val="solid"/>
          </a:ln>
          <a:effectLst>
            <a:outerShdw sx="100000" sy="100000" kx="0" ky="0" algn="bl" rotWithShape="0" blurRad="25400" dist="50800" dir="2700000">
              <a:srgbClr val="000000">
                <a:alpha val="22000"/>
              </a:srgbClr>
            </a:outerShdw>
          </a:effectLst>
        </p:spPr>
      </p:sp>
      <p:pic>
        <p:nvPicPr>
          <p:cNvPr id="9" name="Image 1" descr="Real Hikayat AlQuds home screen">    </p:cNvPr>
          <p:cNvPicPr>
            <a:picLocks noChangeAspect="1"/>
          </p:cNvPicPr>
          <p:nvPr/>
        </p:nvPicPr>
        <p:blipFill>
          <a:blip r:embed="rId2"/>
          <a:srcRect l="0" r="0" t="0" b="0"/>
          <a:stretch/>
        </p:blipFill>
        <p:spPr>
          <a:xfrm>
            <a:off x="841248" y="2011680"/>
            <a:ext cx="10515600" cy="3291840"/>
          </a:xfrm>
          <a:prstGeom prst="rect">
            <a:avLst/>
          </a:prstGeom>
        </p:spPr>
      </p:pic>
      <p:sp>
        <p:nvSpPr>
          <p:cNvPr id="10" name="Shape 6"/>
          <p:cNvSpPr/>
          <p:nvPr/>
        </p:nvSpPr>
        <p:spPr>
          <a:xfrm>
            <a:off x="1005840" y="5504688"/>
            <a:ext cx="10040112" cy="0"/>
          </a:xfrm>
          <a:prstGeom prst="line">
            <a:avLst/>
          </a:prstGeom>
          <a:noFill/>
          <a:ln w="12700">
            <a:solidFill>
              <a:srgbClr val="E7E1D5"/>
            </a:solidFill>
            <a:prstDash val="solid"/>
          </a:ln>
        </p:spPr>
      </p:sp>
      <p:sp>
        <p:nvSpPr>
          <p:cNvPr id="11" name="Text 7"/>
          <p:cNvSpPr txBox="1"/>
          <p:nvPr/>
        </p:nvSpPr>
        <p:spPr>
          <a:xfrm>
            <a:off x="7882128" y="5641848"/>
            <a:ext cx="2971800" cy="292608"/>
          </a:xfrm>
          <a:prstGeom prst="rect">
            <a:avLst/>
          </a:prstGeom>
          <a:noFill/>
          <a:ln/>
        </p:spPr>
        <p:txBody>
          <a:bodyPr wrap="square" lIns="0" tIns="0" rIns="0" bIns="0" rtlCol="0" anchor="ctr">
            <a:normAutofit/>
          </a:bodyPr>
          <a:lstStyle/>
          <a:p>
            <a:pPr rtl="1" algn="ctr" indent="0" marL="0">
              <a:buNone/>
            </a:pPr>
            <a:r>
              <a:rPr lang="en-US" sz="1650" b="1" dirty="0">
                <a:solidFill>
                  <a:srgbClr val="D97706"/>
                </a:solidFill>
                <a:latin typeface="Geeza Pro" pitchFamily="34" charset="0"/>
                <a:ea typeface="Geeza Pro" pitchFamily="34" charset="-122"/>
                <a:cs typeface="Geeza Pro" pitchFamily="34" charset="-120"/>
              </a:rPr>
              <a:t>مسار شخصي</a:t>
            </a:r>
            <a:endParaRPr lang="en-US" sz="1650" dirty="0"/>
          </a:p>
        </p:txBody>
      </p:sp>
      <p:sp>
        <p:nvSpPr>
          <p:cNvPr id="12" name="Text 8"/>
          <p:cNvSpPr txBox="1"/>
          <p:nvPr/>
        </p:nvSpPr>
        <p:spPr>
          <a:xfrm>
            <a:off x="7882128" y="5925312"/>
            <a:ext cx="2971800" cy="274320"/>
          </a:xfrm>
          <a:prstGeom prst="rect">
            <a:avLst/>
          </a:prstGeom>
          <a:noFill/>
          <a:ln/>
        </p:spPr>
        <p:txBody>
          <a:bodyPr wrap="square" lIns="0" tIns="0" rIns="0" bIns="0" rtlCol="0" anchor="ctr">
            <a:normAutofit/>
          </a:bodyPr>
          <a:lstStyle/>
          <a:p>
            <a:pPr rtl="1" algn="ctr" indent="0" marL="0">
              <a:buNone/>
            </a:pPr>
            <a:r>
              <a:rPr lang="en-US" sz="1250" dirty="0">
                <a:solidFill>
                  <a:srgbClr val="74756C"/>
                </a:solidFill>
                <a:latin typeface="Geeza Pro" pitchFamily="34" charset="0"/>
                <a:ea typeface="Geeza Pro" pitchFamily="34" charset="-122"/>
                <a:cs typeface="Geeza Pro" pitchFamily="34" charset="-120"/>
              </a:rPr>
              <a:t>حسب الوقت والاهتمام</a:t>
            </a:r>
            <a:endParaRPr lang="en-US" sz="1250" dirty="0"/>
          </a:p>
        </p:txBody>
      </p:sp>
      <p:sp>
        <p:nvSpPr>
          <p:cNvPr id="13" name="Text 9"/>
          <p:cNvSpPr txBox="1"/>
          <p:nvPr/>
        </p:nvSpPr>
        <p:spPr>
          <a:xfrm>
            <a:off x="4206240" y="5641848"/>
            <a:ext cx="2971800" cy="292608"/>
          </a:xfrm>
          <a:prstGeom prst="rect">
            <a:avLst/>
          </a:prstGeom>
          <a:noFill/>
          <a:ln/>
        </p:spPr>
        <p:txBody>
          <a:bodyPr wrap="square" lIns="0" tIns="0" rIns="0" bIns="0" rtlCol="0" anchor="ctr">
            <a:normAutofit/>
          </a:bodyPr>
          <a:lstStyle/>
          <a:p>
            <a:pPr rtl="1" algn="ctr" indent="0" marL="0">
              <a:buNone/>
            </a:pPr>
            <a:r>
              <a:rPr lang="en-US" sz="1650" b="1" dirty="0">
                <a:solidFill>
                  <a:srgbClr val="D97706"/>
                </a:solidFill>
                <a:latin typeface="Geeza Pro" pitchFamily="34" charset="0"/>
                <a:ea typeface="Geeza Pro" pitchFamily="34" charset="-122"/>
                <a:cs typeface="Geeza Pro" pitchFamily="34" charset="-120"/>
              </a:rPr>
              <a:t>سرد موثّق</a:t>
            </a:r>
            <a:endParaRPr lang="en-US" sz="1650" dirty="0"/>
          </a:p>
        </p:txBody>
      </p:sp>
      <p:sp>
        <p:nvSpPr>
          <p:cNvPr id="14" name="Text 10"/>
          <p:cNvSpPr txBox="1"/>
          <p:nvPr/>
        </p:nvSpPr>
        <p:spPr>
          <a:xfrm>
            <a:off x="4206240" y="5925312"/>
            <a:ext cx="2971800" cy="274320"/>
          </a:xfrm>
          <a:prstGeom prst="rect">
            <a:avLst/>
          </a:prstGeom>
          <a:noFill/>
          <a:ln/>
        </p:spPr>
        <p:txBody>
          <a:bodyPr wrap="square" lIns="0" tIns="0" rIns="0" bIns="0" rtlCol="0" anchor="ctr">
            <a:normAutofit/>
          </a:bodyPr>
          <a:lstStyle/>
          <a:p>
            <a:pPr rtl="1" algn="ctr" indent="0" marL="0">
              <a:buNone/>
            </a:pPr>
            <a:r>
              <a:rPr lang="en-US" sz="1250" dirty="0">
                <a:solidFill>
                  <a:srgbClr val="74756C"/>
                </a:solidFill>
                <a:latin typeface="Geeza Pro" pitchFamily="34" charset="0"/>
                <a:ea typeface="Geeza Pro" pitchFamily="34" charset="-122"/>
                <a:cs typeface="Geeza Pro" pitchFamily="34" charset="-120"/>
              </a:rPr>
              <a:t>مع حارس حقائق وفجوات معلنة</a:t>
            </a:r>
            <a:endParaRPr lang="en-US" sz="1250" dirty="0"/>
          </a:p>
        </p:txBody>
      </p:sp>
      <p:sp>
        <p:nvSpPr>
          <p:cNvPr id="15" name="Text 11"/>
          <p:cNvSpPr txBox="1"/>
          <p:nvPr/>
        </p:nvSpPr>
        <p:spPr>
          <a:xfrm>
            <a:off x="530352" y="5641848"/>
            <a:ext cx="2971800" cy="292608"/>
          </a:xfrm>
          <a:prstGeom prst="rect">
            <a:avLst/>
          </a:prstGeom>
          <a:noFill/>
          <a:ln/>
        </p:spPr>
        <p:txBody>
          <a:bodyPr wrap="square" lIns="0" tIns="0" rIns="0" bIns="0" rtlCol="0" anchor="ctr">
            <a:normAutofit/>
          </a:bodyPr>
          <a:lstStyle/>
          <a:p>
            <a:pPr rtl="1" algn="ctr" indent="0" marL="0">
              <a:buNone/>
            </a:pPr>
            <a:r>
              <a:rPr lang="en-US" sz="1650" b="1" dirty="0">
                <a:solidFill>
                  <a:srgbClr val="D97706"/>
                </a:solidFill>
                <a:latin typeface="Geeza Pro" pitchFamily="34" charset="0"/>
                <a:ea typeface="Geeza Pro" pitchFamily="34" charset="-122"/>
                <a:cs typeface="Geeza Pro" pitchFamily="34" charset="-120"/>
              </a:rPr>
              <a:t>ذكرى قابلة للحفظ</a:t>
            </a:r>
            <a:endParaRPr lang="en-US" sz="1650" dirty="0"/>
          </a:p>
        </p:txBody>
      </p:sp>
      <p:sp>
        <p:nvSpPr>
          <p:cNvPr id="16" name="Text 12"/>
          <p:cNvSpPr txBox="1"/>
          <p:nvPr/>
        </p:nvSpPr>
        <p:spPr>
          <a:xfrm>
            <a:off x="530352" y="5925312"/>
            <a:ext cx="2971800" cy="274320"/>
          </a:xfrm>
          <a:prstGeom prst="rect">
            <a:avLst/>
          </a:prstGeom>
          <a:noFill/>
          <a:ln/>
        </p:spPr>
        <p:txBody>
          <a:bodyPr wrap="square" lIns="0" tIns="0" rIns="0" bIns="0" rtlCol="0" anchor="ctr">
            <a:normAutofit/>
          </a:bodyPr>
          <a:lstStyle/>
          <a:p>
            <a:pPr rtl="1" algn="ctr" indent="0" marL="0">
              <a:buNone/>
            </a:pPr>
            <a:r>
              <a:rPr lang="en-US" sz="1250" dirty="0">
                <a:solidFill>
                  <a:srgbClr val="74756C"/>
                </a:solidFill>
                <a:latin typeface="Geeza Pro" pitchFamily="34" charset="0"/>
                <a:ea typeface="Geeza Pro" pitchFamily="34" charset="-122"/>
                <a:cs typeface="Geeza Pro" pitchFamily="34" charset="-120"/>
              </a:rPr>
              <a:t>صور وملاحظات وتقدم محلي</a:t>
            </a:r>
            <a:endParaRPr lang="en-US" sz="1250" dirty="0"/>
          </a:p>
        </p:txBody>
      </p:sp>
      <p:sp>
        <p:nvSpPr>
          <p:cNvPr id="17" name="Text 13"/>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0"/>
        </a:solidFill>
      </p:bgPr>
    </p:bg>
    <p:spTree>
      <p:nvGrpSpPr>
        <p:cNvPr id="1" name=""/>
        <p:cNvGrpSpPr/>
        <p:nvPr/>
      </p:nvGrpSpPr>
      <p:grpSpPr>
        <a:xfrm>
          <a:off x="0" y="0"/>
          <a:ext cx="0" cy="0"/>
          <a:chOff x="0" y="0"/>
          <a:chExt cx="0" cy="0"/>
        </a:xfrm>
      </p:grpSpPr>
      <p:pic>
        <p:nvPicPr>
          <p:cNvPr id="2" name="Image 0" descr="Hikayat AlQuds interactive map">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303B2B">
              <a:alpha val="82000"/>
            </a:srgbClr>
          </a:solidFill>
          <a:ln w="12700">
            <a:solidFill>
              <a:srgbClr val="12130F">
                <a:alpha val="0"/>
              </a:srgbClr>
            </a:solidFill>
            <a:prstDash val="solid"/>
          </a:ln>
        </p:spPr>
      </p:sp>
      <p:sp>
        <p:nvSpPr>
          <p:cNvPr id="4" name="Shape 1"/>
          <p:cNvSpPr/>
          <p:nvPr/>
        </p:nvSpPr>
        <p:spPr>
          <a:xfrm>
            <a:off x="0" y="0"/>
            <a:ext cx="12191695" cy="1280160"/>
          </a:xfrm>
          <a:prstGeom prst="rect">
            <a:avLst/>
          </a:prstGeom>
          <a:solidFill>
            <a:srgbClr val="F8F6F0">
              <a:alpha val="96000"/>
            </a:srgbClr>
          </a:solidFill>
          <a:ln w="12700">
            <a:solidFill>
              <a:srgbClr val="303B2B">
                <a:alpha val="0"/>
              </a:srgbClr>
            </a:solidFill>
            <a:prstDash val="solid"/>
          </a:ln>
        </p:spPr>
      </p:sp>
      <p:sp>
        <p:nvSpPr>
          <p:cNvPr id="5" name="Shape 2"/>
          <p:cNvSpPr/>
          <p:nvPr/>
        </p:nvSpPr>
        <p:spPr>
          <a:xfrm>
            <a:off x="347472" y="301752"/>
            <a:ext cx="2926080" cy="0"/>
          </a:xfrm>
          <a:prstGeom prst="line">
            <a:avLst/>
          </a:prstGeom>
          <a:noFill/>
          <a:ln w="12700">
            <a:solidFill>
              <a:srgbClr val="4A5D3F">
                <a:alpha val="70000"/>
              </a:srgbClr>
            </a:solidFill>
            <a:prstDash val="solid"/>
          </a:ln>
        </p:spPr>
      </p:sp>
      <p:sp>
        <p:nvSpPr>
          <p:cNvPr id="6" name="Text 3"/>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04</a:t>
            </a:r>
            <a:endParaRPr lang="en-US" sz="900" dirty="0"/>
          </a:p>
        </p:txBody>
      </p:sp>
      <p:sp>
        <p:nvSpPr>
          <p:cNvPr id="7" name="Text 4"/>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8" name="Image 1" descr="Hikayat AlQuds logo">    </p:cNvPr>
          <p:cNvPicPr>
            <a:picLocks noChangeAspect="1"/>
          </p:cNvPicPr>
          <p:nvPr/>
        </p:nvPicPr>
        <p:blipFill>
          <a:blip r:embed="rId2"/>
          <a:srcRect l="0" r="0" t="0" b="0"/>
          <a:stretch/>
        </p:blipFill>
        <p:spPr>
          <a:xfrm>
            <a:off x="11082528" y="109728"/>
            <a:ext cx="658368" cy="384048"/>
          </a:xfrm>
          <a:prstGeom prst="rect">
            <a:avLst/>
          </a:prstGeom>
        </p:spPr>
      </p:pic>
      <p:sp>
        <p:nvSpPr>
          <p:cNvPr id="9" name="Text 5"/>
          <p:cNvSpPr txBox="1"/>
          <p:nvPr/>
        </p:nvSpPr>
        <p:spPr>
          <a:xfrm>
            <a:off x="5715000" y="539496"/>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رحلة الزائر في ٣ خطوات ذكية</a:t>
            </a:r>
            <a:endParaRPr lang="en-US" sz="3000" dirty="0"/>
          </a:p>
        </p:txBody>
      </p:sp>
      <p:sp>
        <p:nvSpPr>
          <p:cNvPr id="10" name="Shape 6"/>
          <p:cNvSpPr/>
          <p:nvPr/>
        </p:nvSpPr>
        <p:spPr>
          <a:xfrm>
            <a:off x="566928" y="4041648"/>
            <a:ext cx="11064240" cy="2176272"/>
          </a:xfrm>
          <a:prstGeom prst="roundRect">
            <a:avLst/>
          </a:prstGeom>
          <a:solidFill>
            <a:srgbClr val="303B2B">
              <a:alpha val="96000"/>
            </a:srgbClr>
          </a:solidFill>
          <a:ln w="12700">
            <a:solidFill>
              <a:srgbClr val="FFFFFF">
                <a:alpha val="25000"/>
              </a:srgbClr>
            </a:solidFill>
            <a:prstDash val="solid"/>
          </a:ln>
        </p:spPr>
      </p:sp>
      <p:sp>
        <p:nvSpPr>
          <p:cNvPr id="11" name="Text 7"/>
          <p:cNvSpPr txBox="1"/>
          <p:nvPr/>
        </p:nvSpPr>
        <p:spPr>
          <a:xfrm>
            <a:off x="10689336" y="4297680"/>
            <a:ext cx="411480" cy="438912"/>
          </a:xfrm>
          <a:prstGeom prst="rect">
            <a:avLst/>
          </a:prstGeom>
          <a:noFill/>
          <a:ln/>
        </p:spPr>
        <p:txBody>
          <a:bodyPr wrap="square" lIns="0" tIns="0" rIns="0" bIns="0" rtlCol="0" anchor="ctr">
            <a:normAutofit/>
          </a:bodyPr>
          <a:lstStyle/>
          <a:p>
            <a:pPr rtl="1" algn="ctr" indent="0" marL="0">
              <a:buNone/>
            </a:pPr>
            <a:r>
              <a:rPr lang="en-US" sz="2500" b="1" dirty="0">
                <a:solidFill>
                  <a:srgbClr val="D97706"/>
                </a:solidFill>
                <a:latin typeface="Geeza Pro" pitchFamily="34" charset="0"/>
                <a:ea typeface="Geeza Pro" pitchFamily="34" charset="-122"/>
                <a:cs typeface="Geeza Pro" pitchFamily="34" charset="-120"/>
              </a:rPr>
              <a:t>١</a:t>
            </a:r>
            <a:endParaRPr lang="en-US" sz="2500" dirty="0"/>
          </a:p>
        </p:txBody>
      </p:sp>
      <p:sp>
        <p:nvSpPr>
          <p:cNvPr id="12" name="Text 8"/>
          <p:cNvSpPr txBox="1"/>
          <p:nvPr/>
        </p:nvSpPr>
        <p:spPr>
          <a:xfrm>
            <a:off x="7918704" y="4315968"/>
            <a:ext cx="2651760" cy="438912"/>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تخصيص المسار</a:t>
            </a:r>
            <a:endParaRPr lang="en-US" sz="1900" dirty="0"/>
          </a:p>
        </p:txBody>
      </p:sp>
      <p:sp>
        <p:nvSpPr>
          <p:cNvPr id="13" name="Text 9"/>
          <p:cNvSpPr txBox="1"/>
          <p:nvPr/>
        </p:nvSpPr>
        <p:spPr>
          <a:xfrm>
            <a:off x="7918704" y="4855464"/>
            <a:ext cx="3154680" cy="822960"/>
          </a:xfrm>
          <a:prstGeom prst="rect">
            <a:avLst/>
          </a:prstGeom>
          <a:noFill/>
          <a:ln/>
        </p:spPr>
        <p:txBody>
          <a:bodyPr wrap="square" lIns="0" tIns="0" rIns="0" bIns="0" rtlCol="0" anchor="t">
            <a:normAutofit/>
          </a:bodyPr>
          <a:lstStyle/>
          <a:p>
            <a:pPr rtl="1" algn="r" indent="0" marL="0">
              <a:buNone/>
            </a:pPr>
            <a:r>
              <a:rPr lang="en-US" sz="1550" dirty="0">
                <a:solidFill>
                  <a:srgbClr val="EAEBDD"/>
                </a:solidFill>
                <a:latin typeface="Geeza Pro" pitchFamily="34" charset="0"/>
                <a:ea typeface="Geeza Pro" pitchFamily="34" charset="-122"/>
                <a:cs typeface="Geeza Pro" pitchFamily="34" charset="-120"/>
              </a:rPr>
              <a:t>لغة، مدة، واهتمامات</a:t>
            </a:r>
            <a:endParaRPr lang="en-US" sz="1550" dirty="0"/>
          </a:p>
          <a:p>
            <a:pPr rtl="1" algn="r" indent="0" marL="0">
              <a:buNone/>
            </a:pPr>
            <a:r>
              <a:rPr lang="en-US" sz="1550" dirty="0">
                <a:solidFill>
                  <a:srgbClr val="EAEBDD"/>
                </a:solidFill>
                <a:latin typeface="Geeza Pro" pitchFamily="34" charset="0"/>
                <a:ea typeface="Geeza Pro" pitchFamily="34" charset="-122"/>
                <a:cs typeface="Geeza Pro" pitchFamily="34" charset="-120"/>
              </a:rPr>
              <a:t>ثم ترتيب حتى ٥ محطات</a:t>
            </a:r>
            <a:endParaRPr lang="en-US" sz="1550" dirty="0"/>
          </a:p>
        </p:txBody>
      </p:sp>
      <p:sp>
        <p:nvSpPr>
          <p:cNvPr id="14" name="Shape 10"/>
          <p:cNvSpPr/>
          <p:nvPr/>
        </p:nvSpPr>
        <p:spPr>
          <a:xfrm>
            <a:off x="7808976" y="4343400"/>
            <a:ext cx="0" cy="1353312"/>
          </a:xfrm>
          <a:prstGeom prst="line">
            <a:avLst/>
          </a:prstGeom>
          <a:noFill/>
          <a:ln w="12700">
            <a:solidFill>
              <a:srgbClr val="FFFFFF">
                <a:alpha val="30000"/>
              </a:srgbClr>
            </a:solidFill>
            <a:prstDash val="solid"/>
          </a:ln>
        </p:spPr>
      </p:sp>
      <p:sp>
        <p:nvSpPr>
          <p:cNvPr id="15" name="Text 11"/>
          <p:cNvSpPr txBox="1"/>
          <p:nvPr/>
        </p:nvSpPr>
        <p:spPr>
          <a:xfrm>
            <a:off x="7040880" y="4297680"/>
            <a:ext cx="411480" cy="438912"/>
          </a:xfrm>
          <a:prstGeom prst="rect">
            <a:avLst/>
          </a:prstGeom>
          <a:noFill/>
          <a:ln/>
        </p:spPr>
        <p:txBody>
          <a:bodyPr wrap="square" lIns="0" tIns="0" rIns="0" bIns="0" rtlCol="0" anchor="ctr">
            <a:normAutofit/>
          </a:bodyPr>
          <a:lstStyle/>
          <a:p>
            <a:pPr rtl="1" algn="ctr" indent="0" marL="0">
              <a:buNone/>
            </a:pPr>
            <a:r>
              <a:rPr lang="en-US" sz="2500" b="1" dirty="0">
                <a:solidFill>
                  <a:srgbClr val="D97706"/>
                </a:solidFill>
                <a:latin typeface="Geeza Pro" pitchFamily="34" charset="0"/>
                <a:ea typeface="Geeza Pro" pitchFamily="34" charset="-122"/>
                <a:cs typeface="Geeza Pro" pitchFamily="34" charset="-120"/>
              </a:rPr>
              <a:t>٢</a:t>
            </a:r>
            <a:endParaRPr lang="en-US" sz="2500" dirty="0"/>
          </a:p>
        </p:txBody>
      </p:sp>
      <p:sp>
        <p:nvSpPr>
          <p:cNvPr id="16" name="Text 12"/>
          <p:cNvSpPr txBox="1"/>
          <p:nvPr/>
        </p:nvSpPr>
        <p:spPr>
          <a:xfrm>
            <a:off x="4270248" y="4315968"/>
            <a:ext cx="2651760" cy="438912"/>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جولة موثّقة</a:t>
            </a:r>
            <a:endParaRPr lang="en-US" sz="1900" dirty="0"/>
          </a:p>
        </p:txBody>
      </p:sp>
      <p:sp>
        <p:nvSpPr>
          <p:cNvPr id="17" name="Text 13"/>
          <p:cNvSpPr txBox="1"/>
          <p:nvPr/>
        </p:nvSpPr>
        <p:spPr>
          <a:xfrm>
            <a:off x="4270248" y="4855464"/>
            <a:ext cx="3154680" cy="822960"/>
          </a:xfrm>
          <a:prstGeom prst="rect">
            <a:avLst/>
          </a:prstGeom>
          <a:noFill/>
          <a:ln/>
        </p:spPr>
        <p:txBody>
          <a:bodyPr wrap="square" lIns="0" tIns="0" rIns="0" bIns="0" rtlCol="0" anchor="t">
            <a:normAutofit/>
          </a:bodyPr>
          <a:lstStyle/>
          <a:p>
            <a:pPr rtl="1" algn="r" indent="0" marL="0">
              <a:buNone/>
            </a:pPr>
            <a:r>
              <a:rPr lang="en-US" sz="1550" dirty="0">
                <a:solidFill>
                  <a:srgbClr val="EAEBDD"/>
                </a:solidFill>
                <a:latin typeface="Geeza Pro" pitchFamily="34" charset="0"/>
                <a:ea typeface="Geeza Pro" pitchFamily="34" charset="-122"/>
                <a:cs typeface="Geeza Pro" pitchFamily="34" charset="-120"/>
              </a:rPr>
              <a:t>خريطة حية وسرد صوتي</a:t>
            </a:r>
            <a:endParaRPr lang="en-US" sz="1550" dirty="0"/>
          </a:p>
          <a:p>
            <a:pPr rtl="1" algn="r" indent="0" marL="0">
              <a:buNone/>
            </a:pPr>
            <a:r>
              <a:rPr lang="en-US" sz="1550" dirty="0">
                <a:solidFill>
                  <a:srgbClr val="EAEBDD"/>
                </a:solidFill>
                <a:latin typeface="Geeza Pro" pitchFamily="34" charset="0"/>
                <a:ea typeface="Geeza Pro" pitchFamily="34" charset="-122"/>
                <a:cs typeface="Geeza Pro" pitchFamily="34" charset="-120"/>
              </a:rPr>
              <a:t>لخمسة أنماط من الجمهور</a:t>
            </a:r>
            <a:endParaRPr lang="en-US" sz="1550" dirty="0"/>
          </a:p>
        </p:txBody>
      </p:sp>
      <p:sp>
        <p:nvSpPr>
          <p:cNvPr id="18" name="Shape 14"/>
          <p:cNvSpPr/>
          <p:nvPr/>
        </p:nvSpPr>
        <p:spPr>
          <a:xfrm>
            <a:off x="4160520" y="4343400"/>
            <a:ext cx="0" cy="1353312"/>
          </a:xfrm>
          <a:prstGeom prst="line">
            <a:avLst/>
          </a:prstGeom>
          <a:noFill/>
          <a:ln w="12700">
            <a:solidFill>
              <a:srgbClr val="FFFFFF">
                <a:alpha val="30000"/>
              </a:srgbClr>
            </a:solidFill>
            <a:prstDash val="solid"/>
          </a:ln>
        </p:spPr>
      </p:sp>
      <p:sp>
        <p:nvSpPr>
          <p:cNvPr id="19" name="Text 15"/>
          <p:cNvSpPr txBox="1"/>
          <p:nvPr/>
        </p:nvSpPr>
        <p:spPr>
          <a:xfrm>
            <a:off x="3429000" y="4297680"/>
            <a:ext cx="411480" cy="438912"/>
          </a:xfrm>
          <a:prstGeom prst="rect">
            <a:avLst/>
          </a:prstGeom>
          <a:noFill/>
          <a:ln/>
        </p:spPr>
        <p:txBody>
          <a:bodyPr wrap="square" lIns="0" tIns="0" rIns="0" bIns="0" rtlCol="0" anchor="ctr">
            <a:normAutofit/>
          </a:bodyPr>
          <a:lstStyle/>
          <a:p>
            <a:pPr rtl="1" algn="ctr" indent="0" marL="0">
              <a:buNone/>
            </a:pPr>
            <a:r>
              <a:rPr lang="en-US" sz="2500" b="1" dirty="0">
                <a:solidFill>
                  <a:srgbClr val="D97706"/>
                </a:solidFill>
                <a:latin typeface="Geeza Pro" pitchFamily="34" charset="0"/>
                <a:ea typeface="Geeza Pro" pitchFamily="34" charset="-122"/>
                <a:cs typeface="Geeza Pro" pitchFamily="34" charset="-120"/>
              </a:rPr>
              <a:t>٣</a:t>
            </a:r>
            <a:endParaRPr lang="en-US" sz="2500" dirty="0"/>
          </a:p>
        </p:txBody>
      </p:sp>
      <p:sp>
        <p:nvSpPr>
          <p:cNvPr id="20" name="Text 16"/>
          <p:cNvSpPr txBox="1"/>
          <p:nvPr/>
        </p:nvSpPr>
        <p:spPr>
          <a:xfrm>
            <a:off x="658368" y="4315968"/>
            <a:ext cx="2651760" cy="438912"/>
          </a:xfrm>
          <a:prstGeom prst="rect">
            <a:avLst/>
          </a:prstGeom>
          <a:noFill/>
          <a:ln/>
        </p:spPr>
        <p:txBody>
          <a:bodyPr wrap="square" lIns="0" tIns="0" rIns="0" bIns="0" rtlCol="0" anchor="ctr">
            <a:normAutofit/>
          </a:bodyPr>
          <a:lstStyle/>
          <a:p>
            <a:pPr rtl="1" algn="r" indent="0" marL="0">
              <a:buNone/>
            </a:pPr>
            <a:r>
              <a:rPr lang="en-US" sz="1900" b="1" dirty="0">
                <a:solidFill>
                  <a:srgbClr val="FFFFFF"/>
                </a:solidFill>
                <a:latin typeface="Geeza Pro" pitchFamily="34" charset="0"/>
                <a:ea typeface="Geeza Pro" pitchFamily="34" charset="-122"/>
                <a:cs typeface="Geeza Pro" pitchFamily="34" charset="-120"/>
              </a:rPr>
              <a:t>حكايتي في القدس</a:t>
            </a:r>
            <a:endParaRPr lang="en-US" sz="1900" dirty="0"/>
          </a:p>
        </p:txBody>
      </p:sp>
      <p:sp>
        <p:nvSpPr>
          <p:cNvPr id="21" name="Text 17"/>
          <p:cNvSpPr txBox="1"/>
          <p:nvPr/>
        </p:nvSpPr>
        <p:spPr>
          <a:xfrm>
            <a:off x="658368" y="4855464"/>
            <a:ext cx="3154680" cy="822960"/>
          </a:xfrm>
          <a:prstGeom prst="rect">
            <a:avLst/>
          </a:prstGeom>
          <a:noFill/>
          <a:ln/>
        </p:spPr>
        <p:txBody>
          <a:bodyPr wrap="square" lIns="0" tIns="0" rIns="0" bIns="0" rtlCol="0" anchor="t">
            <a:normAutofit/>
          </a:bodyPr>
          <a:lstStyle/>
          <a:p>
            <a:pPr rtl="1" algn="r" indent="0" marL="0">
              <a:buNone/>
            </a:pPr>
            <a:r>
              <a:rPr lang="en-US" sz="1550" dirty="0">
                <a:solidFill>
                  <a:srgbClr val="EAEBDD"/>
                </a:solidFill>
                <a:latin typeface="Geeza Pro" pitchFamily="34" charset="0"/>
                <a:ea typeface="Geeza Pro" pitchFamily="34" charset="-122"/>
                <a:cs typeface="Geeza Pro" pitchFamily="34" charset="-120"/>
              </a:rPr>
              <a:t>تتبّع الزيارة وحفظ الصور</a:t>
            </a:r>
            <a:endParaRPr lang="en-US" sz="1550" dirty="0"/>
          </a:p>
          <a:p>
            <a:pPr rtl="1" algn="r" indent="0" marL="0">
              <a:buNone/>
            </a:pPr>
            <a:r>
              <a:rPr lang="en-US" sz="1550" dirty="0">
                <a:solidFill>
                  <a:srgbClr val="EAEBDD"/>
                </a:solidFill>
                <a:latin typeface="Geeza Pro" pitchFamily="34" charset="0"/>
                <a:ea typeface="Geeza Pro" pitchFamily="34" charset="-122"/>
                <a:cs typeface="Geeza Pro" pitchFamily="34" charset="-120"/>
              </a:rPr>
              <a:t>والملاحظات كتذكار شخصي</a:t>
            </a:r>
            <a:endParaRPr lang="en-US" sz="1550" dirty="0"/>
          </a:p>
        </p:txBody>
      </p:sp>
      <p:sp>
        <p:nvSpPr>
          <p:cNvPr id="22" name="Text 18"/>
          <p:cNvSpPr txBox="1"/>
          <p:nvPr/>
        </p:nvSpPr>
        <p:spPr>
          <a:xfrm>
            <a:off x="3108960" y="5833872"/>
            <a:ext cx="5989320" cy="320040"/>
          </a:xfrm>
          <a:prstGeom prst="rect">
            <a:avLst/>
          </a:prstGeom>
          <a:noFill/>
          <a:ln/>
        </p:spPr>
        <p:txBody>
          <a:bodyPr wrap="square" lIns="0" tIns="0" rIns="0" bIns="0" rtlCol="0" anchor="ctr">
            <a:normAutofit/>
          </a:bodyPr>
          <a:lstStyle/>
          <a:p>
            <a:pPr rtl="1" algn="ctr" indent="0" marL="0">
              <a:buNone/>
            </a:pPr>
            <a:r>
              <a:rPr lang="en-US" sz="1250" b="1" dirty="0">
                <a:solidFill>
                  <a:srgbClr val="D39B35"/>
                </a:solidFill>
                <a:latin typeface="Geeza Pro" pitchFamily="34" charset="0"/>
                <a:ea typeface="Geeza Pro" pitchFamily="34" charset="-122"/>
                <a:cs typeface="Geeza Pro" pitchFamily="34" charset="-120"/>
              </a:rPr>
              <a:t>حارس الحقائق يفحص الأرقام والأسماء ويعرض فجوات المصدر بدل ملئها</a:t>
            </a:r>
            <a:endParaRPr lang="en-US" sz="1250" dirty="0"/>
          </a:p>
        </p:txBody>
      </p:sp>
      <p:sp>
        <p:nvSpPr>
          <p:cNvPr id="23" name="Text 19"/>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D9D9D1"/>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347472" y="301752"/>
            <a:ext cx="2926080" cy="0"/>
          </a:xfrm>
          <a:prstGeom prst="line">
            <a:avLst/>
          </a:prstGeom>
          <a:noFill/>
          <a:ln w="12700">
            <a:solidFill>
              <a:srgbClr val="4A5D3F">
                <a:alpha val="70000"/>
              </a:srgbClr>
            </a:solidFill>
            <a:prstDash val="solid"/>
          </a:ln>
        </p:spPr>
      </p:sp>
      <p:sp>
        <p:nvSpPr>
          <p:cNvPr id="3" name="Text 1"/>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05</a:t>
            </a:r>
            <a:endParaRPr lang="en-US" sz="900" dirty="0"/>
          </a:p>
        </p:txBody>
      </p:sp>
      <p:sp>
        <p:nvSpPr>
          <p:cNvPr id="4" name="Text 2"/>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5" name="Image 0" descr="Hikayat AlQuds logo">    </p:cNvPr>
          <p:cNvPicPr>
            <a:picLocks noChangeAspect="1"/>
          </p:cNvPicPr>
          <p:nvPr/>
        </p:nvPicPr>
        <p:blipFill>
          <a:blip r:embed="rId1"/>
          <a:srcRect l="0" r="0" t="0" b="0"/>
          <a:stretch/>
        </p:blipFill>
        <p:spPr>
          <a:xfrm>
            <a:off x="11082528" y="109728"/>
            <a:ext cx="658368" cy="384048"/>
          </a:xfrm>
          <a:prstGeom prst="rect">
            <a:avLst/>
          </a:prstGeom>
        </p:spPr>
      </p:pic>
      <p:sp>
        <p:nvSpPr>
          <p:cNvPr id="6" name="Text 3"/>
          <p:cNvSpPr txBox="1"/>
          <p:nvPr/>
        </p:nvSpPr>
        <p:spPr>
          <a:xfrm>
            <a:off x="5715000" y="548640"/>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الأثر يبدأ داخل المدينة</a:t>
            </a:r>
            <a:endParaRPr lang="en-US" sz="3000" dirty="0"/>
          </a:p>
        </p:txBody>
      </p:sp>
      <p:sp>
        <p:nvSpPr>
          <p:cNvPr id="7" name="Text 4"/>
          <p:cNvSpPr txBox="1"/>
          <p:nvPr/>
        </p:nvSpPr>
        <p:spPr>
          <a:xfrm>
            <a:off x="4754880" y="1078992"/>
            <a:ext cx="6812280" cy="438912"/>
          </a:xfrm>
          <a:prstGeom prst="rect">
            <a:avLst/>
          </a:prstGeom>
          <a:noFill/>
          <a:ln/>
        </p:spPr>
        <p:txBody>
          <a:bodyPr wrap="square" lIns="0" tIns="0" rIns="0" bIns="0" rtlCol="0" anchor="ctr">
            <a:normAutofit/>
          </a:bodyPr>
          <a:lstStyle/>
          <a:p>
            <a:pPr rtl="1" algn="r" indent="0" marL="0">
              <a:buNone/>
            </a:pPr>
            <a:r>
              <a:rPr lang="en-US" sz="1800" b="1" dirty="0">
                <a:solidFill>
                  <a:srgbClr val="74756C"/>
                </a:solidFill>
                <a:latin typeface="Geeza Pro" pitchFamily="34" charset="0"/>
                <a:ea typeface="Geeza Pro" pitchFamily="34" charset="-122"/>
                <a:cs typeface="Geeza Pro" pitchFamily="34" charset="-120"/>
              </a:rPr>
              <a:t>كل خطوة في المنتج تربط الزيارة بحماية الرواية ودعم الحياة اليومية</a:t>
            </a:r>
            <a:endParaRPr lang="en-US" sz="1800" dirty="0"/>
          </a:p>
        </p:txBody>
      </p:sp>
      <p:pic>
        <p:nvPicPr>
          <p:cNvPr id="8" name="Image 1" descr="رواية قابلة للتدقيق">    </p:cNvPr>
          <p:cNvPicPr>
            <a:picLocks noChangeAspect="1"/>
          </p:cNvPicPr>
          <p:nvPr/>
        </p:nvPicPr>
        <p:blipFill>
          <a:blip r:embed="rId2"/>
          <a:srcRect l="0" r="0" t="0" b="0"/>
          <a:stretch/>
        </p:blipFill>
        <p:spPr>
          <a:xfrm>
            <a:off x="8156448" y="1691640"/>
            <a:ext cx="3822192" cy="3520440"/>
          </a:xfrm>
          <a:prstGeom prst="rect">
            <a:avLst/>
          </a:prstGeom>
        </p:spPr>
      </p:pic>
      <p:sp>
        <p:nvSpPr>
          <p:cNvPr id="9" name="Shape 5"/>
          <p:cNvSpPr/>
          <p:nvPr/>
        </p:nvSpPr>
        <p:spPr>
          <a:xfrm>
            <a:off x="8156448" y="3154680"/>
            <a:ext cx="3822192" cy="2057400"/>
          </a:xfrm>
          <a:prstGeom prst="rect">
            <a:avLst/>
          </a:prstGeom>
          <a:solidFill>
            <a:srgbClr val="303B2B">
              <a:alpha val="90000"/>
            </a:srgbClr>
          </a:solidFill>
          <a:ln w="12700">
            <a:solidFill>
              <a:srgbClr val="12130F">
                <a:alpha val="0"/>
              </a:srgbClr>
            </a:solidFill>
            <a:prstDash val="solid"/>
          </a:ln>
        </p:spPr>
      </p:sp>
      <p:sp>
        <p:nvSpPr>
          <p:cNvPr id="10" name="Text 6"/>
          <p:cNvSpPr txBox="1"/>
          <p:nvPr/>
        </p:nvSpPr>
        <p:spPr>
          <a:xfrm>
            <a:off x="8385048" y="3374136"/>
            <a:ext cx="3337560" cy="301752"/>
          </a:xfrm>
          <a:prstGeom prst="rect">
            <a:avLst/>
          </a:prstGeom>
          <a:noFill/>
          <a:ln/>
        </p:spPr>
        <p:txBody>
          <a:bodyPr wrap="square" lIns="0" tIns="0" rIns="0" bIns="0" rtlCol="0" anchor="ctr">
            <a:normAutofit/>
          </a:bodyPr>
          <a:lstStyle/>
          <a:p>
            <a:pPr rtl="1" algn="r" indent="0" marL="0">
              <a:buNone/>
            </a:pPr>
            <a:r>
              <a:rPr lang="en-US" sz="1450" b="1" dirty="0">
                <a:solidFill>
                  <a:srgbClr val="D39B35"/>
                </a:solidFill>
                <a:latin typeface="Geeza Pro" pitchFamily="34" charset="0"/>
                <a:ea typeface="Geeza Pro" pitchFamily="34" charset="-122"/>
                <a:cs typeface="Geeza Pro" pitchFamily="34" charset="-120"/>
              </a:rPr>
              <a:t>تراثياً</a:t>
            </a:r>
            <a:endParaRPr lang="en-US" sz="1450" dirty="0"/>
          </a:p>
        </p:txBody>
      </p:sp>
      <p:sp>
        <p:nvSpPr>
          <p:cNvPr id="11" name="Text 7"/>
          <p:cNvSpPr txBox="1"/>
          <p:nvPr/>
        </p:nvSpPr>
        <p:spPr>
          <a:xfrm>
            <a:off x="8385048" y="3712464"/>
            <a:ext cx="3337560" cy="475488"/>
          </a:xfrm>
          <a:prstGeom prst="rect">
            <a:avLst/>
          </a:prstGeom>
          <a:noFill/>
          <a:ln/>
        </p:spPr>
        <p:txBody>
          <a:bodyPr wrap="square" lIns="0" tIns="0" rIns="0" bIns="0" rtlCol="0" anchor="ctr">
            <a:normAutofit/>
          </a:bodyPr>
          <a:lstStyle/>
          <a:p>
            <a:pPr rtl="1" algn="r" indent="0" marL="0">
              <a:buNone/>
            </a:pPr>
            <a:r>
              <a:rPr lang="en-US" sz="2100" b="1" dirty="0">
                <a:solidFill>
                  <a:srgbClr val="FFFFFF"/>
                </a:solidFill>
                <a:latin typeface="Geeza Pro" pitchFamily="34" charset="0"/>
                <a:ea typeface="Geeza Pro" pitchFamily="34" charset="-122"/>
                <a:cs typeface="Geeza Pro" pitchFamily="34" charset="-120"/>
              </a:rPr>
              <a:t>رواية قابلة للتدقيق</a:t>
            </a:r>
            <a:endParaRPr lang="en-US" sz="2100" dirty="0"/>
          </a:p>
        </p:txBody>
      </p:sp>
      <p:sp>
        <p:nvSpPr>
          <p:cNvPr id="12" name="Text 8"/>
          <p:cNvSpPr txBox="1"/>
          <p:nvPr/>
        </p:nvSpPr>
        <p:spPr>
          <a:xfrm>
            <a:off x="8385048" y="4215384"/>
            <a:ext cx="3337560" cy="713232"/>
          </a:xfrm>
          <a:prstGeom prst="rect">
            <a:avLst/>
          </a:prstGeom>
          <a:noFill/>
          <a:ln/>
        </p:spPr>
        <p:txBody>
          <a:bodyPr wrap="square" lIns="0" tIns="0" rIns="0" bIns="0" rtlCol="0" anchor="t">
            <a:normAutofit/>
          </a:bodyPr>
          <a:lstStyle/>
          <a:p>
            <a:pPr rtl="1" algn="r" indent="0" marL="0">
              <a:buNone/>
            </a:pPr>
            <a:r>
              <a:rPr lang="en-US" sz="1440" dirty="0">
                <a:solidFill>
                  <a:srgbClr val="F1F0EA"/>
                </a:solidFill>
                <a:latin typeface="Geeza Pro" pitchFamily="34" charset="0"/>
                <a:ea typeface="Geeza Pro" pitchFamily="34" charset="-122"/>
                <a:cs typeface="Geeza Pro" pitchFamily="34" charset="-120"/>
              </a:rPr>
              <a:t>٨ سجلات مراجعة تفصل بين الحقيقة والتقليد والرواية الشفوية</a:t>
            </a:r>
            <a:endParaRPr lang="en-US" sz="1440" dirty="0"/>
          </a:p>
        </p:txBody>
      </p:sp>
      <p:pic>
        <p:nvPicPr>
          <p:cNvPr id="13" name="Image 2" descr="الإنفاق يصل إلى الحارة">    </p:cNvPr>
          <p:cNvPicPr>
            <a:picLocks noChangeAspect="1"/>
          </p:cNvPicPr>
          <p:nvPr/>
        </p:nvPicPr>
        <p:blipFill>
          <a:blip r:embed="rId3"/>
          <a:srcRect l="0" r="0" t="0" b="0"/>
          <a:stretch/>
        </p:blipFill>
        <p:spPr>
          <a:xfrm>
            <a:off x="4178808" y="1691640"/>
            <a:ext cx="3822192" cy="3520440"/>
          </a:xfrm>
          <a:prstGeom prst="rect">
            <a:avLst/>
          </a:prstGeom>
        </p:spPr>
      </p:pic>
      <p:sp>
        <p:nvSpPr>
          <p:cNvPr id="14" name="Shape 9"/>
          <p:cNvSpPr/>
          <p:nvPr/>
        </p:nvSpPr>
        <p:spPr>
          <a:xfrm>
            <a:off x="4178808" y="3154680"/>
            <a:ext cx="3822192" cy="2057400"/>
          </a:xfrm>
          <a:prstGeom prst="rect">
            <a:avLst/>
          </a:prstGeom>
          <a:solidFill>
            <a:srgbClr val="303B2B">
              <a:alpha val="90000"/>
            </a:srgbClr>
          </a:solidFill>
          <a:ln w="12700">
            <a:solidFill>
              <a:srgbClr val="12130F">
                <a:alpha val="0"/>
              </a:srgbClr>
            </a:solidFill>
            <a:prstDash val="solid"/>
          </a:ln>
        </p:spPr>
      </p:sp>
      <p:sp>
        <p:nvSpPr>
          <p:cNvPr id="15" name="Text 10"/>
          <p:cNvSpPr txBox="1"/>
          <p:nvPr/>
        </p:nvSpPr>
        <p:spPr>
          <a:xfrm>
            <a:off x="4407408" y="3374136"/>
            <a:ext cx="3337560" cy="301752"/>
          </a:xfrm>
          <a:prstGeom prst="rect">
            <a:avLst/>
          </a:prstGeom>
          <a:noFill/>
          <a:ln/>
        </p:spPr>
        <p:txBody>
          <a:bodyPr wrap="square" lIns="0" tIns="0" rIns="0" bIns="0" rtlCol="0" anchor="ctr">
            <a:normAutofit/>
          </a:bodyPr>
          <a:lstStyle/>
          <a:p>
            <a:pPr rtl="1" algn="r" indent="0" marL="0">
              <a:buNone/>
            </a:pPr>
            <a:r>
              <a:rPr lang="en-US" sz="1450" b="1" dirty="0">
                <a:solidFill>
                  <a:srgbClr val="D39B35"/>
                </a:solidFill>
                <a:latin typeface="Geeza Pro" pitchFamily="34" charset="0"/>
                <a:ea typeface="Geeza Pro" pitchFamily="34" charset="-122"/>
                <a:cs typeface="Geeza Pro" pitchFamily="34" charset="-120"/>
              </a:rPr>
              <a:t>اقتصادياً</a:t>
            </a:r>
            <a:endParaRPr lang="en-US" sz="1450" dirty="0"/>
          </a:p>
        </p:txBody>
      </p:sp>
      <p:sp>
        <p:nvSpPr>
          <p:cNvPr id="16" name="Text 11"/>
          <p:cNvSpPr txBox="1"/>
          <p:nvPr/>
        </p:nvSpPr>
        <p:spPr>
          <a:xfrm>
            <a:off x="4407408" y="3712464"/>
            <a:ext cx="3337560" cy="475488"/>
          </a:xfrm>
          <a:prstGeom prst="rect">
            <a:avLst/>
          </a:prstGeom>
          <a:noFill/>
          <a:ln/>
        </p:spPr>
        <p:txBody>
          <a:bodyPr wrap="square" lIns="0" tIns="0" rIns="0" bIns="0" rtlCol="0" anchor="ctr">
            <a:normAutofit/>
          </a:bodyPr>
          <a:lstStyle/>
          <a:p>
            <a:pPr rtl="1" algn="r" indent="0" marL="0">
              <a:buNone/>
            </a:pPr>
            <a:r>
              <a:rPr lang="en-US" sz="2100" b="1" dirty="0">
                <a:solidFill>
                  <a:srgbClr val="FFFFFF"/>
                </a:solidFill>
                <a:latin typeface="Geeza Pro" pitchFamily="34" charset="0"/>
                <a:ea typeface="Geeza Pro" pitchFamily="34" charset="-122"/>
                <a:cs typeface="Geeza Pro" pitchFamily="34" charset="-120"/>
              </a:rPr>
              <a:t>الإنفاق يصل إلى الحارة</a:t>
            </a:r>
            <a:endParaRPr lang="en-US" sz="2100" dirty="0"/>
          </a:p>
        </p:txBody>
      </p:sp>
      <p:sp>
        <p:nvSpPr>
          <p:cNvPr id="17" name="Text 12"/>
          <p:cNvSpPr txBox="1"/>
          <p:nvPr/>
        </p:nvSpPr>
        <p:spPr>
          <a:xfrm>
            <a:off x="4407408" y="4215384"/>
            <a:ext cx="3337560" cy="713232"/>
          </a:xfrm>
          <a:prstGeom prst="rect">
            <a:avLst/>
          </a:prstGeom>
          <a:noFill/>
          <a:ln/>
        </p:spPr>
        <p:txBody>
          <a:bodyPr wrap="square" lIns="0" tIns="0" rIns="0" bIns="0" rtlCol="0" anchor="t">
            <a:normAutofit/>
          </a:bodyPr>
          <a:lstStyle/>
          <a:p>
            <a:pPr rtl="1" algn="r" indent="0" marL="0">
              <a:buNone/>
            </a:pPr>
            <a:r>
              <a:rPr lang="en-US" sz="1440" dirty="0">
                <a:solidFill>
                  <a:srgbClr val="F1F0EA"/>
                </a:solidFill>
                <a:latin typeface="Geeza Pro" pitchFamily="34" charset="0"/>
                <a:ea typeface="Geeza Pro" pitchFamily="34" charset="-122"/>
                <a:cs typeface="Geeza Pro" pitchFamily="34" charset="-120"/>
              </a:rPr>
              <a:t>توجيه الزائر إلى الخباز والحرفي والدكان المحلي في مساره الفعلي</a:t>
            </a:r>
            <a:endParaRPr lang="en-US" sz="1440" dirty="0"/>
          </a:p>
        </p:txBody>
      </p:sp>
      <p:pic>
        <p:nvPicPr>
          <p:cNvPr id="18" name="Image 3" descr="أرشيف حي للذاكرة">    </p:cNvPr>
          <p:cNvPicPr>
            <a:picLocks noChangeAspect="1"/>
          </p:cNvPicPr>
          <p:nvPr/>
        </p:nvPicPr>
        <p:blipFill>
          <a:blip r:embed="rId4"/>
          <a:srcRect l="0" r="0" t="0" b="0"/>
          <a:stretch/>
        </p:blipFill>
        <p:spPr>
          <a:xfrm>
            <a:off x="201168" y="1691640"/>
            <a:ext cx="3822192" cy="3520440"/>
          </a:xfrm>
          <a:prstGeom prst="rect">
            <a:avLst/>
          </a:prstGeom>
        </p:spPr>
      </p:pic>
      <p:sp>
        <p:nvSpPr>
          <p:cNvPr id="19" name="Shape 13"/>
          <p:cNvSpPr/>
          <p:nvPr/>
        </p:nvSpPr>
        <p:spPr>
          <a:xfrm>
            <a:off x="201168" y="3154680"/>
            <a:ext cx="3822192" cy="2057400"/>
          </a:xfrm>
          <a:prstGeom prst="rect">
            <a:avLst/>
          </a:prstGeom>
          <a:solidFill>
            <a:srgbClr val="303B2B">
              <a:alpha val="90000"/>
            </a:srgbClr>
          </a:solidFill>
          <a:ln w="12700">
            <a:solidFill>
              <a:srgbClr val="12130F">
                <a:alpha val="0"/>
              </a:srgbClr>
            </a:solidFill>
            <a:prstDash val="solid"/>
          </a:ln>
        </p:spPr>
      </p:sp>
      <p:sp>
        <p:nvSpPr>
          <p:cNvPr id="20" name="Text 14"/>
          <p:cNvSpPr txBox="1"/>
          <p:nvPr/>
        </p:nvSpPr>
        <p:spPr>
          <a:xfrm>
            <a:off x="429768" y="3374136"/>
            <a:ext cx="3337560" cy="301752"/>
          </a:xfrm>
          <a:prstGeom prst="rect">
            <a:avLst/>
          </a:prstGeom>
          <a:noFill/>
          <a:ln/>
        </p:spPr>
        <p:txBody>
          <a:bodyPr wrap="square" lIns="0" tIns="0" rIns="0" bIns="0" rtlCol="0" anchor="ctr">
            <a:normAutofit/>
          </a:bodyPr>
          <a:lstStyle/>
          <a:p>
            <a:pPr rtl="1" algn="r" indent="0" marL="0">
              <a:buNone/>
            </a:pPr>
            <a:r>
              <a:rPr lang="en-US" sz="1450" b="1" dirty="0">
                <a:solidFill>
                  <a:srgbClr val="D39B35"/>
                </a:solidFill>
                <a:latin typeface="Geeza Pro" pitchFamily="34" charset="0"/>
                <a:ea typeface="Geeza Pro" pitchFamily="34" charset="-122"/>
                <a:cs typeface="Geeza Pro" pitchFamily="34" charset="-120"/>
              </a:rPr>
              <a:t>مجتمعياً</a:t>
            </a:r>
            <a:endParaRPr lang="en-US" sz="1450" dirty="0"/>
          </a:p>
        </p:txBody>
      </p:sp>
      <p:sp>
        <p:nvSpPr>
          <p:cNvPr id="21" name="Text 15"/>
          <p:cNvSpPr txBox="1"/>
          <p:nvPr/>
        </p:nvSpPr>
        <p:spPr>
          <a:xfrm>
            <a:off x="429768" y="3712464"/>
            <a:ext cx="3337560" cy="475488"/>
          </a:xfrm>
          <a:prstGeom prst="rect">
            <a:avLst/>
          </a:prstGeom>
          <a:noFill/>
          <a:ln/>
        </p:spPr>
        <p:txBody>
          <a:bodyPr wrap="square" lIns="0" tIns="0" rIns="0" bIns="0" rtlCol="0" anchor="ctr">
            <a:normAutofit/>
          </a:bodyPr>
          <a:lstStyle/>
          <a:p>
            <a:pPr rtl="1" algn="r" indent="0" marL="0">
              <a:buNone/>
            </a:pPr>
            <a:r>
              <a:rPr lang="en-US" sz="2100" b="1" dirty="0">
                <a:solidFill>
                  <a:srgbClr val="FFFFFF"/>
                </a:solidFill>
                <a:latin typeface="Geeza Pro" pitchFamily="34" charset="0"/>
                <a:ea typeface="Geeza Pro" pitchFamily="34" charset="-122"/>
                <a:cs typeface="Geeza Pro" pitchFamily="34" charset="-120"/>
              </a:rPr>
              <a:t>أرشيف حي للذاكرة</a:t>
            </a:r>
            <a:endParaRPr lang="en-US" sz="2100" dirty="0"/>
          </a:p>
        </p:txBody>
      </p:sp>
      <p:sp>
        <p:nvSpPr>
          <p:cNvPr id="22" name="Text 16"/>
          <p:cNvSpPr txBox="1"/>
          <p:nvPr/>
        </p:nvSpPr>
        <p:spPr>
          <a:xfrm>
            <a:off x="429768" y="4215384"/>
            <a:ext cx="3337560" cy="713232"/>
          </a:xfrm>
          <a:prstGeom prst="rect">
            <a:avLst/>
          </a:prstGeom>
          <a:noFill/>
          <a:ln/>
        </p:spPr>
        <p:txBody>
          <a:bodyPr wrap="square" lIns="0" tIns="0" rIns="0" bIns="0" rtlCol="0" anchor="t">
            <a:normAutofit/>
          </a:bodyPr>
          <a:lstStyle/>
          <a:p>
            <a:pPr rtl="1" algn="r" indent="0" marL="0">
              <a:buNone/>
            </a:pPr>
            <a:r>
              <a:rPr lang="en-US" sz="1440" dirty="0">
                <a:solidFill>
                  <a:srgbClr val="F1F0EA"/>
                </a:solidFill>
                <a:latin typeface="Geeza Pro" pitchFamily="34" charset="0"/>
                <a:ea typeface="Geeza Pro" pitchFamily="34" charset="-122"/>
                <a:cs typeface="Geeza Pro" pitchFamily="34" charset="-120"/>
              </a:rPr>
              <a:t>مساهمات الأهالي تدخل مسار مراجعة قبل ظهورها للزائر</a:t>
            </a:r>
            <a:endParaRPr lang="en-US" sz="1440" dirty="0"/>
          </a:p>
        </p:txBody>
      </p:sp>
      <p:sp>
        <p:nvSpPr>
          <p:cNvPr id="23" name="Text 17"/>
          <p:cNvSpPr txBox="1"/>
          <p:nvPr/>
        </p:nvSpPr>
        <p:spPr>
          <a:xfrm>
            <a:off x="2011680" y="5715000"/>
            <a:ext cx="8138160" cy="548640"/>
          </a:xfrm>
          <a:prstGeom prst="rect">
            <a:avLst/>
          </a:prstGeom>
          <a:noFill/>
          <a:ln/>
        </p:spPr>
        <p:txBody>
          <a:bodyPr wrap="square" lIns="0" tIns="0" rIns="0" bIns="0" rtlCol="0" anchor="ctr">
            <a:normAutofit/>
          </a:bodyPr>
          <a:lstStyle/>
          <a:p>
            <a:pPr rtl="1" algn="ctr" indent="0" marL="0">
              <a:buNone/>
            </a:pPr>
            <a:r>
              <a:rPr lang="en-US" sz="2200" b="1" dirty="0">
                <a:solidFill>
                  <a:srgbClr val="4A5D3F"/>
                </a:solidFill>
                <a:latin typeface="Geeza Pro" pitchFamily="34" charset="0"/>
                <a:ea typeface="Geeza Pro" pitchFamily="34" charset="-122"/>
                <a:cs typeface="Geeza Pro" pitchFamily="34" charset="-120"/>
              </a:rPr>
              <a:t>النتيجة: زيارة أعمق، قيمة اقتصادية محلية، وذاكرة لا تضيع</a:t>
            </a:r>
            <a:endParaRPr lang="en-US" sz="2200" dirty="0"/>
          </a:p>
        </p:txBody>
      </p:sp>
      <p:sp>
        <p:nvSpPr>
          <p:cNvPr id="24" name="Text 18"/>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0"/>
        </a:solidFill>
      </p:bgPr>
    </p:bg>
    <p:spTree>
      <p:nvGrpSpPr>
        <p:cNvPr id="1" name=""/>
        <p:cNvGrpSpPr/>
        <p:nvPr/>
      </p:nvGrpSpPr>
      <p:grpSpPr>
        <a:xfrm>
          <a:off x="0" y="0"/>
          <a:ext cx="0" cy="0"/>
          <a:chOff x="0" y="0"/>
          <a:chExt cx="0" cy="0"/>
        </a:xfrm>
      </p:grpSpPr>
      <p:pic>
        <p:nvPicPr>
          <p:cNvPr id="2" name="Image 0" descr="Real Muslim Quarter location page in Hikayat AlQuds">    </p:cNvPr>
          <p:cNvPicPr>
            <a:picLocks noChangeAspect="1"/>
          </p:cNvPicPr>
          <p:nvPr/>
        </p:nvPicPr>
        <p:blipFill>
          <a:blip r:embed="rId1"/>
          <a:srcRect l="0" r="0" t="0" b="0"/>
          <a:stretch/>
        </p:blipFill>
        <p:spPr>
          <a:xfrm>
            <a:off x="0" y="0"/>
            <a:ext cx="6492240" cy="6858000"/>
          </a:xfrm>
          <a:prstGeom prst="rect">
            <a:avLst/>
          </a:prstGeom>
        </p:spPr>
      </p:pic>
      <p:sp>
        <p:nvSpPr>
          <p:cNvPr id="3" name="Shape 0"/>
          <p:cNvSpPr/>
          <p:nvPr/>
        </p:nvSpPr>
        <p:spPr>
          <a:xfrm>
            <a:off x="0" y="0"/>
            <a:ext cx="6492240" cy="6858000"/>
          </a:xfrm>
          <a:prstGeom prst="rect">
            <a:avLst/>
          </a:prstGeom>
          <a:solidFill>
            <a:srgbClr val="303B2B">
              <a:alpha val="23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4A5D3F">
                <a:alpha val="7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06</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7" name="Image 1" descr="Hikayat AlQuds logo">    </p:cNvPr>
          <p:cNvPicPr>
            <a:picLocks noChangeAspect="1"/>
          </p:cNvPicPr>
          <p:nvPr/>
        </p:nvPicPr>
        <p:blipFill>
          <a:blip r:embed="rId2"/>
          <a:srcRect l="0" r="0" t="0" b="0"/>
          <a:stretch/>
        </p:blipFill>
        <p:spPr>
          <a:xfrm>
            <a:off x="11082528" y="109728"/>
            <a:ext cx="658368" cy="384048"/>
          </a:xfrm>
          <a:prstGeom prst="rect">
            <a:avLst/>
          </a:prstGeom>
        </p:spPr>
      </p:pic>
      <p:sp>
        <p:nvSpPr>
          <p:cNvPr id="8" name="Text 4"/>
          <p:cNvSpPr txBox="1"/>
          <p:nvPr/>
        </p:nvSpPr>
        <p:spPr>
          <a:xfrm>
            <a:off x="5715000" y="612648"/>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نموذج حقيقي يعمل اليوم</a:t>
            </a:r>
            <a:endParaRPr lang="en-US" sz="3000" dirty="0"/>
          </a:p>
        </p:txBody>
      </p:sp>
      <p:sp>
        <p:nvSpPr>
          <p:cNvPr id="9" name="Text 5"/>
          <p:cNvSpPr txBox="1"/>
          <p:nvPr/>
        </p:nvSpPr>
        <p:spPr>
          <a:xfrm>
            <a:off x="6784848" y="1197864"/>
            <a:ext cx="4800600" cy="749808"/>
          </a:xfrm>
          <a:prstGeom prst="rect">
            <a:avLst/>
          </a:prstGeom>
          <a:noFill/>
          <a:ln/>
        </p:spPr>
        <p:txBody>
          <a:bodyPr wrap="square" lIns="0" tIns="0" rIns="0" bIns="0" rtlCol="0" anchor="t">
            <a:normAutofit/>
          </a:bodyPr>
          <a:lstStyle/>
          <a:p>
            <a:pPr rtl="1" algn="r" indent="0" marL="0">
              <a:buNone/>
            </a:pPr>
            <a:r>
              <a:rPr lang="en-US" sz="2000" b="1" dirty="0">
                <a:solidFill>
                  <a:srgbClr val="22231F"/>
                </a:solidFill>
                <a:latin typeface="Geeza Pro" pitchFamily="34" charset="0"/>
                <a:ea typeface="Geeza Pro" pitchFamily="34" charset="-122"/>
                <a:cs typeface="Geeza Pro" pitchFamily="34" charset="-120"/>
              </a:rPr>
              <a:t>الدليل ليس تصوراً بصرياً، بل منظومة متكاملة تعمل من الواجهة حتى حارس الحقائق</a:t>
            </a:r>
            <a:endParaRPr lang="en-US" sz="2000" dirty="0"/>
          </a:p>
        </p:txBody>
      </p:sp>
      <p:sp>
        <p:nvSpPr>
          <p:cNvPr id="10" name="Text 6"/>
          <p:cNvSpPr txBox="1"/>
          <p:nvPr/>
        </p:nvSpPr>
        <p:spPr>
          <a:xfrm>
            <a:off x="9966960" y="2304288"/>
            <a:ext cx="1417320" cy="640080"/>
          </a:xfrm>
          <a:prstGeom prst="rect">
            <a:avLst/>
          </a:prstGeom>
          <a:noFill/>
          <a:ln/>
        </p:spPr>
        <p:txBody>
          <a:bodyPr wrap="square" lIns="0" tIns="0" rIns="0" bIns="0" rtlCol="0" anchor="ctr">
            <a:normAutofit/>
          </a:bodyPr>
          <a:lstStyle/>
          <a:p>
            <a:pPr rtl="1" algn="ctr" indent="0" marL="0">
              <a:buNone/>
            </a:pPr>
            <a:r>
              <a:rPr lang="en-US" sz="3600" b="1" dirty="0">
                <a:solidFill>
                  <a:srgbClr val="D97706"/>
                </a:solidFill>
                <a:latin typeface="Geeza Pro" pitchFamily="34" charset="0"/>
                <a:ea typeface="Geeza Pro" pitchFamily="34" charset="-122"/>
                <a:cs typeface="Geeza Pro" pitchFamily="34" charset="-120"/>
              </a:rPr>
              <a:t>٨</a:t>
            </a:r>
            <a:endParaRPr lang="en-US" sz="3600" dirty="0"/>
          </a:p>
        </p:txBody>
      </p:sp>
      <p:sp>
        <p:nvSpPr>
          <p:cNvPr id="11" name="Text 7"/>
          <p:cNvSpPr txBox="1"/>
          <p:nvPr/>
        </p:nvSpPr>
        <p:spPr>
          <a:xfrm>
            <a:off x="9966960" y="2907792"/>
            <a:ext cx="1417320" cy="658368"/>
          </a:xfrm>
          <a:prstGeom prst="rect">
            <a:avLst/>
          </a:prstGeom>
          <a:noFill/>
          <a:ln/>
        </p:spPr>
        <p:txBody>
          <a:bodyPr wrap="square" lIns="0" tIns="0" rIns="0" bIns="0" rtlCol="0" anchor="t">
            <a:normAutofit/>
          </a:bodyPr>
          <a:lstStyle/>
          <a:p>
            <a:pPr rtl="1" algn="ctr" indent="0" marL="0">
              <a:buNone/>
            </a:pPr>
            <a:r>
              <a:rPr lang="en-US" sz="1230" b="1" dirty="0">
                <a:solidFill>
                  <a:srgbClr val="303B2B"/>
                </a:solidFill>
                <a:latin typeface="Geeza Pro" pitchFamily="34" charset="0"/>
                <a:ea typeface="Geeza Pro" pitchFamily="34" charset="-122"/>
                <a:cs typeface="Geeza Pro" pitchFamily="34" charset="-120"/>
              </a:rPr>
              <a:t>أماكن مقدسية</a:t>
            </a:r>
            <a:endParaRPr lang="en-US" sz="1230" dirty="0"/>
          </a:p>
          <a:p>
            <a:pPr rtl="1" algn="ctr" indent="0" marL="0">
              <a:buNone/>
            </a:pPr>
            <a:r>
              <a:rPr lang="en-US" sz="1230" b="1" dirty="0">
                <a:solidFill>
                  <a:srgbClr val="303B2B"/>
                </a:solidFill>
                <a:latin typeface="Geeza Pro" pitchFamily="34" charset="0"/>
                <a:ea typeface="Geeza Pro" pitchFamily="34" charset="-122"/>
                <a:cs typeface="Geeza Pro" pitchFamily="34" charset="-120"/>
              </a:rPr>
              <a:t>بمحتوى مراجع</a:t>
            </a:r>
            <a:endParaRPr lang="en-US" sz="1230" dirty="0"/>
          </a:p>
        </p:txBody>
      </p:sp>
      <p:sp>
        <p:nvSpPr>
          <p:cNvPr id="12" name="Text 8"/>
          <p:cNvSpPr txBox="1"/>
          <p:nvPr/>
        </p:nvSpPr>
        <p:spPr>
          <a:xfrm>
            <a:off x="8266176" y="2304288"/>
            <a:ext cx="1417320" cy="640080"/>
          </a:xfrm>
          <a:prstGeom prst="rect">
            <a:avLst/>
          </a:prstGeom>
          <a:noFill/>
          <a:ln/>
        </p:spPr>
        <p:txBody>
          <a:bodyPr wrap="square" lIns="0" tIns="0" rIns="0" bIns="0" rtlCol="0" anchor="ctr">
            <a:normAutofit/>
          </a:bodyPr>
          <a:lstStyle/>
          <a:p>
            <a:pPr rtl="1" algn="ctr" indent="0" marL="0">
              <a:buNone/>
            </a:pPr>
            <a:r>
              <a:rPr lang="en-US" sz="3600" b="1" dirty="0">
                <a:solidFill>
                  <a:srgbClr val="D97706"/>
                </a:solidFill>
                <a:latin typeface="Geeza Pro" pitchFamily="34" charset="0"/>
                <a:ea typeface="Geeza Pro" pitchFamily="34" charset="-122"/>
                <a:cs typeface="Geeza Pro" pitchFamily="34" charset="-120"/>
              </a:rPr>
              <a:t>٧١</a:t>
            </a:r>
            <a:endParaRPr lang="en-US" sz="3600" dirty="0"/>
          </a:p>
        </p:txBody>
      </p:sp>
      <p:sp>
        <p:nvSpPr>
          <p:cNvPr id="13" name="Text 9"/>
          <p:cNvSpPr txBox="1"/>
          <p:nvPr/>
        </p:nvSpPr>
        <p:spPr>
          <a:xfrm>
            <a:off x="8266176" y="2907792"/>
            <a:ext cx="1417320" cy="658368"/>
          </a:xfrm>
          <a:prstGeom prst="rect">
            <a:avLst/>
          </a:prstGeom>
          <a:noFill/>
          <a:ln/>
        </p:spPr>
        <p:txBody>
          <a:bodyPr wrap="square" lIns="0" tIns="0" rIns="0" bIns="0" rtlCol="0" anchor="t">
            <a:normAutofit/>
          </a:bodyPr>
          <a:lstStyle/>
          <a:p>
            <a:pPr rtl="1" algn="ctr" indent="0" marL="0">
              <a:buNone/>
            </a:pPr>
            <a:r>
              <a:rPr lang="en-US" sz="1230" b="1" dirty="0">
                <a:solidFill>
                  <a:srgbClr val="303B2B"/>
                </a:solidFill>
                <a:latin typeface="Geeza Pro" pitchFamily="34" charset="0"/>
                <a:ea typeface="Geeza Pro" pitchFamily="34" charset="-122"/>
                <a:cs typeface="Geeza Pro" pitchFamily="34" charset="-120"/>
              </a:rPr>
              <a:t>اختباراً آلياً ناجحاً</a:t>
            </a:r>
            <a:endParaRPr lang="en-US" sz="1230" dirty="0"/>
          </a:p>
          <a:p>
            <a:pPr rtl="1" algn="ctr" indent="0" marL="0">
              <a:buNone/>
            </a:pPr>
            <a:r>
              <a:rPr lang="en-US" sz="1230" b="1" dirty="0">
                <a:solidFill>
                  <a:srgbClr val="303B2B"/>
                </a:solidFill>
                <a:latin typeface="Geeza Pro" pitchFamily="34" charset="0"/>
                <a:ea typeface="Geeza Pro" pitchFamily="34" charset="-122"/>
                <a:cs typeface="Geeza Pro" pitchFamily="34" charset="-120"/>
              </a:rPr>
              <a:t>٤٠ للخادم و٣١ للذكاء</a:t>
            </a:r>
            <a:endParaRPr lang="en-US" sz="1230" dirty="0"/>
          </a:p>
        </p:txBody>
      </p:sp>
      <p:sp>
        <p:nvSpPr>
          <p:cNvPr id="14" name="Text 10"/>
          <p:cNvSpPr txBox="1"/>
          <p:nvPr/>
        </p:nvSpPr>
        <p:spPr>
          <a:xfrm>
            <a:off x="6565392" y="2304288"/>
            <a:ext cx="1417320" cy="640080"/>
          </a:xfrm>
          <a:prstGeom prst="rect">
            <a:avLst/>
          </a:prstGeom>
          <a:noFill/>
          <a:ln/>
        </p:spPr>
        <p:txBody>
          <a:bodyPr wrap="square" lIns="0" tIns="0" rIns="0" bIns="0" rtlCol="0" anchor="ctr">
            <a:normAutofit/>
          </a:bodyPr>
          <a:lstStyle/>
          <a:p>
            <a:pPr rtl="1" algn="ctr" indent="0" marL="0">
              <a:buNone/>
            </a:pPr>
            <a:r>
              <a:rPr lang="en-US" sz="3600" b="1" dirty="0">
                <a:solidFill>
                  <a:srgbClr val="D97706"/>
                </a:solidFill>
                <a:latin typeface="Geeza Pro" pitchFamily="34" charset="0"/>
                <a:ea typeface="Geeza Pro" pitchFamily="34" charset="-122"/>
                <a:cs typeface="Geeza Pro" pitchFamily="34" charset="-120"/>
              </a:rPr>
              <a:t>٣</a:t>
            </a:r>
            <a:endParaRPr lang="en-US" sz="3600" dirty="0"/>
          </a:p>
        </p:txBody>
      </p:sp>
      <p:sp>
        <p:nvSpPr>
          <p:cNvPr id="15" name="Text 11"/>
          <p:cNvSpPr txBox="1"/>
          <p:nvPr/>
        </p:nvSpPr>
        <p:spPr>
          <a:xfrm>
            <a:off x="6565392" y="2907792"/>
            <a:ext cx="1417320" cy="658368"/>
          </a:xfrm>
          <a:prstGeom prst="rect">
            <a:avLst/>
          </a:prstGeom>
          <a:noFill/>
          <a:ln/>
        </p:spPr>
        <p:txBody>
          <a:bodyPr wrap="square" lIns="0" tIns="0" rIns="0" bIns="0" rtlCol="0" anchor="t">
            <a:normAutofit/>
          </a:bodyPr>
          <a:lstStyle/>
          <a:p>
            <a:pPr rtl="1" algn="ctr" indent="0" marL="0">
              <a:buNone/>
            </a:pPr>
            <a:r>
              <a:rPr lang="en-US" sz="1230" b="1" dirty="0">
                <a:solidFill>
                  <a:srgbClr val="303B2B"/>
                </a:solidFill>
                <a:latin typeface="Geeza Pro" pitchFamily="34" charset="0"/>
                <a:ea typeface="Geeza Pro" pitchFamily="34" charset="-122"/>
                <a:cs typeface="Geeza Pro" pitchFamily="34" charset="-120"/>
              </a:rPr>
              <a:t>طبقات متصلة</a:t>
            </a:r>
            <a:endParaRPr lang="en-US" sz="1230" dirty="0"/>
          </a:p>
          <a:p>
            <a:pPr rtl="1" algn="ctr" indent="0" marL="0">
              <a:buNone/>
            </a:pPr>
            <a:r>
              <a:rPr lang="en-US" sz="1230" b="1" dirty="0">
                <a:solidFill>
                  <a:srgbClr val="303B2B"/>
                </a:solidFill>
                <a:latin typeface="Geeza Pro" pitchFamily="34" charset="0"/>
                <a:ea typeface="Geeza Pro" pitchFamily="34" charset="-122"/>
                <a:cs typeface="Geeza Pro" pitchFamily="34" charset="-120"/>
              </a:rPr>
              <a:t>واجهة وخادم وذكاء</a:t>
            </a:r>
            <a:endParaRPr lang="en-US" sz="1230" dirty="0"/>
          </a:p>
        </p:txBody>
      </p:sp>
      <p:sp>
        <p:nvSpPr>
          <p:cNvPr id="16" name="Shape 12"/>
          <p:cNvSpPr/>
          <p:nvPr/>
        </p:nvSpPr>
        <p:spPr>
          <a:xfrm>
            <a:off x="6812280" y="3840480"/>
            <a:ext cx="4709160" cy="0"/>
          </a:xfrm>
          <a:prstGeom prst="line">
            <a:avLst/>
          </a:prstGeom>
          <a:noFill/>
          <a:ln w="15240">
            <a:solidFill>
              <a:srgbClr val="E7E1D5"/>
            </a:solidFill>
            <a:prstDash val="solid"/>
          </a:ln>
        </p:spPr>
      </p:sp>
      <p:sp>
        <p:nvSpPr>
          <p:cNvPr id="17" name="Text 13"/>
          <p:cNvSpPr txBox="1"/>
          <p:nvPr/>
        </p:nvSpPr>
        <p:spPr>
          <a:xfrm>
            <a:off x="6812280" y="4096512"/>
            <a:ext cx="4681728" cy="438912"/>
          </a:xfrm>
          <a:prstGeom prst="rect">
            <a:avLst/>
          </a:prstGeom>
          <a:noFill/>
          <a:ln/>
        </p:spPr>
        <p:txBody>
          <a:bodyPr wrap="square" lIns="0" tIns="0" rIns="0" bIns="0" rtlCol="0" anchor="ctr">
            <a:normAutofit/>
          </a:bodyPr>
          <a:lstStyle/>
          <a:p>
            <a:pPr rtl="1" algn="r" indent="0" marL="0">
              <a:buNone/>
            </a:pPr>
            <a:r>
              <a:rPr lang="en-US" sz="1750" b="1" dirty="0">
                <a:solidFill>
                  <a:srgbClr val="4A5D3F"/>
                </a:solidFill>
                <a:latin typeface="Geeza Pro" pitchFamily="34" charset="0"/>
                <a:ea typeface="Geeza Pro" pitchFamily="34" charset="-122"/>
                <a:cs typeface="Geeza Pro" pitchFamily="34" charset="-120"/>
              </a:rPr>
              <a:t>اختبار الاستخدام كشف ٣ مشكلات لم تظهر في مراجعة الكود</a:t>
            </a:r>
            <a:endParaRPr lang="en-US" sz="1750" dirty="0"/>
          </a:p>
        </p:txBody>
      </p:sp>
      <p:sp>
        <p:nvSpPr>
          <p:cNvPr id="18" name="Text 14"/>
          <p:cNvSpPr txBox="1"/>
          <p:nvPr/>
        </p:nvSpPr>
        <p:spPr>
          <a:xfrm>
            <a:off x="6812280" y="4590288"/>
            <a:ext cx="4681728" cy="777240"/>
          </a:xfrm>
          <a:prstGeom prst="rect">
            <a:avLst/>
          </a:prstGeom>
          <a:noFill/>
          <a:ln/>
        </p:spPr>
        <p:txBody>
          <a:bodyPr wrap="square" lIns="0" tIns="0" rIns="0" bIns="0" rtlCol="0" anchor="t">
            <a:normAutofit/>
          </a:bodyPr>
          <a:lstStyle/>
          <a:p>
            <a:pPr rtl="1" algn="r" indent="0" marL="0">
              <a:buNone/>
            </a:pPr>
            <a:r>
              <a:rPr lang="en-US" sz="1580" dirty="0">
                <a:solidFill>
                  <a:srgbClr val="22231F"/>
                </a:solidFill>
                <a:latin typeface="Geeza Pro" pitchFamily="34" charset="0"/>
                <a:ea typeface="Geeza Pro" pitchFamily="34" charset="-122"/>
                <a:cs typeface="Geeza Pro" pitchFamily="34" charset="-120"/>
              </a:rPr>
              <a:t>مقارنة زمنية خاطئة، تجمّد المعالج، وإجابة كان يجب رفضها. أصلح الفريق الثلاثة قبل العرض.</a:t>
            </a:r>
            <a:endParaRPr lang="en-US" sz="1580" dirty="0"/>
          </a:p>
        </p:txBody>
      </p:sp>
      <p:sp>
        <p:nvSpPr>
          <p:cNvPr id="19" name="Text 15"/>
          <p:cNvSpPr txBox="1"/>
          <p:nvPr/>
        </p:nvSpPr>
        <p:spPr>
          <a:xfrm>
            <a:off x="6812280" y="5559552"/>
            <a:ext cx="4681728" cy="621792"/>
          </a:xfrm>
          <a:prstGeom prst="rect">
            <a:avLst/>
          </a:prstGeom>
          <a:noFill/>
          <a:ln/>
        </p:spPr>
        <p:txBody>
          <a:bodyPr wrap="square" lIns="0" tIns="0" rIns="0" bIns="0" rtlCol="0" anchor="ctr">
            <a:normAutofit/>
          </a:bodyPr>
          <a:lstStyle/>
          <a:p>
            <a:pPr rtl="1" algn="r" indent="0" marL="0">
              <a:buNone/>
            </a:pPr>
            <a:r>
              <a:rPr lang="en-US" sz="1750" b="1" dirty="0">
                <a:solidFill>
                  <a:srgbClr val="D97706"/>
                </a:solidFill>
                <a:latin typeface="Geeza Pro" pitchFamily="34" charset="0"/>
                <a:ea typeface="Geeza Pro" pitchFamily="34" charset="-122"/>
                <a:cs typeface="Geeza Pro" pitchFamily="34" charset="-120"/>
              </a:rPr>
              <a:t>هذا هو التحقق الذي نثق به: استخدام فعلي، عطل واضح، ثم إصلاح قابل للاختبار</a:t>
            </a:r>
            <a:endParaRPr lang="en-US" sz="1750" dirty="0"/>
          </a:p>
        </p:txBody>
      </p:sp>
      <p:sp>
        <p:nvSpPr>
          <p:cNvPr id="20" name="Text 16"/>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347472" y="301752"/>
            <a:ext cx="2926080" cy="0"/>
          </a:xfrm>
          <a:prstGeom prst="line">
            <a:avLst/>
          </a:prstGeom>
          <a:noFill/>
          <a:ln w="12700">
            <a:solidFill>
              <a:srgbClr val="4A5D3F">
                <a:alpha val="70000"/>
              </a:srgbClr>
            </a:solidFill>
            <a:prstDash val="solid"/>
          </a:ln>
        </p:spPr>
      </p:sp>
      <p:sp>
        <p:nvSpPr>
          <p:cNvPr id="3" name="Text 1"/>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4A5D3F"/>
                </a:solidFill>
                <a:latin typeface="Arial" pitchFamily="34" charset="0"/>
                <a:ea typeface="Arial" pitchFamily="34" charset="-122"/>
                <a:cs typeface="Arial" pitchFamily="34" charset="-120"/>
              </a:rPr>
              <a:t>07</a:t>
            </a:r>
            <a:endParaRPr lang="en-US" sz="900" dirty="0"/>
          </a:p>
        </p:txBody>
      </p:sp>
      <p:sp>
        <p:nvSpPr>
          <p:cNvPr id="4" name="Text 2"/>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15 SEC</a:t>
            </a:r>
            <a:endParaRPr lang="en-US" sz="800" dirty="0"/>
          </a:p>
        </p:txBody>
      </p:sp>
      <p:pic>
        <p:nvPicPr>
          <p:cNvPr id="5" name="Image 0" descr="Hikayat AlQuds logo">    </p:cNvPr>
          <p:cNvPicPr>
            <a:picLocks noChangeAspect="1"/>
          </p:cNvPicPr>
          <p:nvPr/>
        </p:nvPicPr>
        <p:blipFill>
          <a:blip r:embed="rId1"/>
          <a:srcRect l="0" r="0" t="0" b="0"/>
          <a:stretch/>
        </p:blipFill>
        <p:spPr>
          <a:xfrm>
            <a:off x="11082528" y="109728"/>
            <a:ext cx="658368" cy="384048"/>
          </a:xfrm>
          <a:prstGeom prst="rect">
            <a:avLst/>
          </a:prstGeom>
        </p:spPr>
      </p:pic>
      <p:sp>
        <p:nvSpPr>
          <p:cNvPr id="6" name="Text 3"/>
          <p:cNvSpPr txBox="1"/>
          <p:nvPr/>
        </p:nvSpPr>
        <p:spPr>
          <a:xfrm>
            <a:off x="5715000" y="585216"/>
            <a:ext cx="5989320" cy="566928"/>
          </a:xfrm>
          <a:prstGeom prst="rect">
            <a:avLst/>
          </a:prstGeom>
          <a:noFill/>
          <a:ln/>
        </p:spPr>
        <p:txBody>
          <a:bodyPr wrap="square" lIns="0" tIns="0" rIns="0" bIns="0" rtlCol="0" anchor="ctr">
            <a:normAutofit/>
          </a:bodyPr>
          <a:lstStyle/>
          <a:p>
            <a:pPr rtl="1" algn="r" indent="0" marL="0">
              <a:buNone/>
            </a:pPr>
            <a:r>
              <a:rPr lang="en-US" sz="3000" b="1" dirty="0">
                <a:solidFill>
                  <a:srgbClr val="4A5D3F"/>
                </a:solidFill>
                <a:latin typeface="Geeza Pro" pitchFamily="34" charset="0"/>
                <a:ea typeface="Geeza Pro" pitchFamily="34" charset="-122"/>
                <a:cs typeface="Geeza Pro" pitchFamily="34" charset="-120"/>
              </a:rPr>
              <a:t>خطة ٣٠ يوم</a:t>
            </a:r>
            <a:endParaRPr lang="en-US" sz="3000" dirty="0"/>
          </a:p>
        </p:txBody>
      </p:sp>
      <p:sp>
        <p:nvSpPr>
          <p:cNvPr id="7" name="Text 4"/>
          <p:cNvSpPr txBox="1"/>
          <p:nvPr/>
        </p:nvSpPr>
        <p:spPr>
          <a:xfrm>
            <a:off x="3794760" y="1106424"/>
            <a:ext cx="7772400" cy="502920"/>
          </a:xfrm>
          <a:prstGeom prst="rect">
            <a:avLst/>
          </a:prstGeom>
          <a:noFill/>
          <a:ln/>
        </p:spPr>
        <p:txBody>
          <a:bodyPr wrap="square" lIns="0" tIns="0" rIns="0" bIns="0" rtlCol="0" anchor="ctr">
            <a:normAutofit/>
          </a:bodyPr>
          <a:lstStyle/>
          <a:p>
            <a:pPr rtl="1" algn="r" indent="0" marL="0">
              <a:buNone/>
            </a:pPr>
            <a:r>
              <a:rPr lang="en-US" sz="1850" b="1" dirty="0">
                <a:solidFill>
                  <a:srgbClr val="22231F"/>
                </a:solidFill>
                <a:latin typeface="Geeza Pro" pitchFamily="34" charset="0"/>
                <a:ea typeface="Geeza Pro" pitchFamily="34" charset="-122"/>
                <a:cs typeface="Geeza Pro" pitchFamily="34" charset="-120"/>
              </a:rPr>
              <a:t>البنية جاهزة للتجربة الميدانية، والخطوة التالية هي إثبات الاستخدام والشراكة داخل القدس</a:t>
            </a:r>
            <a:endParaRPr lang="en-US" sz="1850" dirty="0"/>
          </a:p>
        </p:txBody>
      </p:sp>
      <p:pic>
        <p:nvPicPr>
          <p:cNvPr id="8" name="Image 1" descr="Historical view of At-Tur">    </p:cNvPr>
          <p:cNvPicPr>
            <a:picLocks noChangeAspect="1"/>
          </p:cNvPicPr>
          <p:nvPr/>
        </p:nvPicPr>
        <p:blipFill>
          <a:blip r:embed="rId2"/>
          <a:srcRect l="0" r="0" t="0" b="0"/>
          <a:stretch/>
        </p:blipFill>
        <p:spPr>
          <a:xfrm>
            <a:off x="502920" y="1755648"/>
            <a:ext cx="2971800" cy="2286000"/>
          </a:xfrm>
          <a:prstGeom prst="rect">
            <a:avLst/>
          </a:prstGeom>
        </p:spPr>
      </p:pic>
      <p:pic>
        <p:nvPicPr>
          <p:cNvPr id="9" name="Image 2" descr="Present-day view of At-Tur">    </p:cNvPr>
          <p:cNvPicPr>
            <a:picLocks noChangeAspect="1"/>
          </p:cNvPicPr>
          <p:nvPr/>
        </p:nvPicPr>
        <p:blipFill>
          <a:blip r:embed="rId3"/>
          <a:srcRect l="0" r="0" t="0" b="0"/>
          <a:stretch/>
        </p:blipFill>
        <p:spPr>
          <a:xfrm>
            <a:off x="3520440" y="1755648"/>
            <a:ext cx="2971800" cy="2286000"/>
          </a:xfrm>
          <a:prstGeom prst="rect">
            <a:avLst/>
          </a:prstGeom>
        </p:spPr>
      </p:pic>
      <p:sp>
        <p:nvSpPr>
          <p:cNvPr id="10" name="Text 5"/>
          <p:cNvSpPr txBox="1"/>
          <p:nvPr/>
        </p:nvSpPr>
        <p:spPr>
          <a:xfrm>
            <a:off x="685800" y="3721608"/>
            <a:ext cx="2560320" cy="274320"/>
          </a:xfrm>
          <a:prstGeom prst="rect">
            <a:avLst/>
          </a:prstGeom>
          <a:noFill/>
          <a:ln/>
        </p:spPr>
        <p:txBody>
          <a:bodyPr wrap="square" lIns="0" tIns="0" rIns="0" bIns="0" rtlCol="0" anchor="ctr">
            <a:normAutofit/>
          </a:bodyPr>
          <a:lstStyle/>
          <a:p>
            <a:pPr rtl="1" algn="ctr" indent="0" marL="0">
              <a:buNone/>
            </a:pPr>
            <a:r>
              <a:rPr lang="en-US" sz="1200" b="1" dirty="0">
                <a:solidFill>
                  <a:srgbClr val="FFFFFF"/>
                </a:solidFill>
                <a:latin typeface="Geeza Pro" pitchFamily="34" charset="0"/>
                <a:ea typeface="Geeza Pro" pitchFamily="34" charset="-122"/>
                <a:cs typeface="Geeza Pro" pitchFamily="34" charset="-120"/>
              </a:rPr>
              <a:t>المقارنة الزمنية اليوم</a:t>
            </a:r>
            <a:endParaRPr lang="en-US" sz="1200" dirty="0"/>
          </a:p>
        </p:txBody>
      </p:sp>
      <p:sp>
        <p:nvSpPr>
          <p:cNvPr id="11" name="Text 6"/>
          <p:cNvSpPr txBox="1"/>
          <p:nvPr/>
        </p:nvSpPr>
        <p:spPr>
          <a:xfrm>
            <a:off x="3657600" y="3721608"/>
            <a:ext cx="2697480" cy="274320"/>
          </a:xfrm>
          <a:prstGeom prst="rect">
            <a:avLst/>
          </a:prstGeom>
          <a:noFill/>
          <a:ln/>
        </p:spPr>
        <p:txBody>
          <a:bodyPr wrap="square" lIns="0" tIns="0" rIns="0" bIns="0" rtlCol="0" anchor="ctr">
            <a:normAutofit/>
          </a:bodyPr>
          <a:lstStyle/>
          <a:p>
            <a:pPr rtl="1" algn="ctr" indent="0" marL="0">
              <a:buNone/>
            </a:pPr>
            <a:r>
              <a:rPr lang="en-US" sz="1200" b="1" dirty="0">
                <a:solidFill>
                  <a:srgbClr val="FFFFFF"/>
                </a:solidFill>
                <a:latin typeface="Geeza Pro" pitchFamily="34" charset="0"/>
                <a:ea typeface="Geeza Pro" pitchFamily="34" charset="-122"/>
                <a:cs typeface="Geeza Pro" pitchFamily="34" charset="-120"/>
              </a:rPr>
              <a:t>أساس لمسارات الواقع المعزز غداً</a:t>
            </a:r>
            <a:endParaRPr lang="en-US" sz="1200" dirty="0"/>
          </a:p>
        </p:txBody>
      </p:sp>
      <p:sp>
        <p:nvSpPr>
          <p:cNvPr id="12" name="Shape 7"/>
          <p:cNvSpPr/>
          <p:nvPr/>
        </p:nvSpPr>
        <p:spPr>
          <a:xfrm>
            <a:off x="6903720" y="2057400"/>
            <a:ext cx="0" cy="3429000"/>
          </a:xfrm>
          <a:prstGeom prst="line">
            <a:avLst/>
          </a:prstGeom>
          <a:noFill/>
          <a:ln w="17780">
            <a:solidFill>
              <a:srgbClr val="E7E1D5"/>
            </a:solidFill>
            <a:prstDash val="solid"/>
          </a:ln>
        </p:spPr>
      </p:sp>
      <p:sp>
        <p:nvSpPr>
          <p:cNvPr id="13" name="Text 8"/>
          <p:cNvSpPr txBox="1"/>
          <p:nvPr/>
        </p:nvSpPr>
        <p:spPr>
          <a:xfrm>
            <a:off x="10012680" y="1645920"/>
            <a:ext cx="1280160" cy="256032"/>
          </a:xfrm>
          <a:prstGeom prst="rect">
            <a:avLst/>
          </a:prstGeom>
          <a:noFill/>
          <a:ln/>
        </p:spPr>
        <p:txBody>
          <a:bodyPr wrap="square" lIns="0" tIns="0" rIns="0" bIns="0" rtlCol="0" anchor="ctr">
            <a:normAutofit/>
          </a:bodyPr>
          <a:lstStyle/>
          <a:p>
            <a:pPr rtl="1" algn="r" indent="0" marL="0">
              <a:buNone/>
            </a:pPr>
            <a:r>
              <a:rPr lang="en-US" sz="1050" b="1" dirty="0">
                <a:solidFill>
                  <a:srgbClr val="D97706"/>
                </a:solidFill>
                <a:latin typeface="Geeza Pro" pitchFamily="34" charset="0"/>
                <a:ea typeface="Geeza Pro" pitchFamily="34" charset="-122"/>
                <a:cs typeface="Geeza Pro" pitchFamily="34" charset="-120"/>
              </a:rPr>
              <a:t>الأيام ١–١٠</a:t>
            </a:r>
            <a:endParaRPr lang="en-US" sz="1050" dirty="0"/>
          </a:p>
        </p:txBody>
      </p:sp>
      <p:sp>
        <p:nvSpPr>
          <p:cNvPr id="14" name="Text 9"/>
          <p:cNvSpPr txBox="1"/>
          <p:nvPr/>
        </p:nvSpPr>
        <p:spPr>
          <a:xfrm>
            <a:off x="7360920" y="1892808"/>
            <a:ext cx="3886200" cy="393192"/>
          </a:xfrm>
          <a:prstGeom prst="rect">
            <a:avLst/>
          </a:prstGeom>
          <a:noFill/>
          <a:ln/>
        </p:spPr>
        <p:txBody>
          <a:bodyPr wrap="square" lIns="0" tIns="0" rIns="0" bIns="0" rtlCol="0" anchor="ctr">
            <a:normAutofit/>
          </a:bodyPr>
          <a:lstStyle/>
          <a:p>
            <a:pPr rtl="1" algn="r" indent="0" marL="0">
              <a:buNone/>
            </a:pPr>
            <a:r>
              <a:rPr lang="en-US" sz="1900" b="1" dirty="0">
                <a:solidFill>
                  <a:srgbClr val="4A5D3F"/>
                </a:solidFill>
                <a:latin typeface="Geeza Pro" pitchFamily="34" charset="0"/>
                <a:ea typeface="Geeza Pro" pitchFamily="34" charset="-122"/>
                <a:cs typeface="Geeza Pro" pitchFamily="34" charset="-120"/>
              </a:rPr>
              <a:t>تجربة ميدانية</a:t>
            </a:r>
            <a:endParaRPr lang="en-US" sz="1900" dirty="0"/>
          </a:p>
        </p:txBody>
      </p:sp>
      <p:sp>
        <p:nvSpPr>
          <p:cNvPr id="15" name="Text 10"/>
          <p:cNvSpPr txBox="1"/>
          <p:nvPr/>
        </p:nvSpPr>
        <p:spPr>
          <a:xfrm>
            <a:off x="7360920" y="2313432"/>
            <a:ext cx="3886200" cy="475488"/>
          </a:xfrm>
          <a:prstGeom prst="rect">
            <a:avLst/>
          </a:prstGeom>
          <a:noFill/>
          <a:ln/>
        </p:spPr>
        <p:txBody>
          <a:bodyPr wrap="square" lIns="0" tIns="0" rIns="0" bIns="0" rtlCol="0" anchor="t">
            <a:normAutofit/>
          </a:bodyPr>
          <a:lstStyle/>
          <a:p>
            <a:pPr rtl="1" algn="r" indent="0" marL="0">
              <a:buNone/>
            </a:pPr>
            <a:r>
              <a:rPr lang="en-US" sz="1450" dirty="0">
                <a:solidFill>
                  <a:srgbClr val="22231F"/>
                </a:solidFill>
                <a:latin typeface="Geeza Pro" pitchFamily="34" charset="0"/>
                <a:ea typeface="Geeza Pro" pitchFamily="34" charset="-122"/>
                <a:cs typeface="Geeza Pro" pitchFamily="34" charset="-120"/>
              </a:rPr>
              <a:t>اختبار المسار مع أدلاء محليين وتسجيل نقاط الاحتكاك</a:t>
            </a:r>
            <a:endParaRPr lang="en-US" sz="1450" dirty="0"/>
          </a:p>
        </p:txBody>
      </p:sp>
      <p:sp>
        <p:nvSpPr>
          <p:cNvPr id="16" name="Text 11"/>
          <p:cNvSpPr txBox="1"/>
          <p:nvPr/>
        </p:nvSpPr>
        <p:spPr>
          <a:xfrm>
            <a:off x="10012680" y="2999232"/>
            <a:ext cx="1280160" cy="256032"/>
          </a:xfrm>
          <a:prstGeom prst="rect">
            <a:avLst/>
          </a:prstGeom>
          <a:noFill/>
          <a:ln/>
        </p:spPr>
        <p:txBody>
          <a:bodyPr wrap="square" lIns="0" tIns="0" rIns="0" bIns="0" rtlCol="0" anchor="ctr">
            <a:normAutofit/>
          </a:bodyPr>
          <a:lstStyle/>
          <a:p>
            <a:pPr rtl="1" algn="r" indent="0" marL="0">
              <a:buNone/>
            </a:pPr>
            <a:r>
              <a:rPr lang="en-US" sz="1050" b="1" dirty="0">
                <a:solidFill>
                  <a:srgbClr val="D97706"/>
                </a:solidFill>
                <a:latin typeface="Geeza Pro" pitchFamily="34" charset="0"/>
                <a:ea typeface="Geeza Pro" pitchFamily="34" charset="-122"/>
                <a:cs typeface="Geeza Pro" pitchFamily="34" charset="-120"/>
              </a:rPr>
              <a:t>الأيام ١١–٢٠</a:t>
            </a:r>
            <a:endParaRPr lang="en-US" sz="1050" dirty="0"/>
          </a:p>
        </p:txBody>
      </p:sp>
      <p:sp>
        <p:nvSpPr>
          <p:cNvPr id="17" name="Text 12"/>
          <p:cNvSpPr txBox="1"/>
          <p:nvPr/>
        </p:nvSpPr>
        <p:spPr>
          <a:xfrm>
            <a:off x="7360920" y="3246120"/>
            <a:ext cx="3886200" cy="393192"/>
          </a:xfrm>
          <a:prstGeom prst="rect">
            <a:avLst/>
          </a:prstGeom>
          <a:noFill/>
          <a:ln/>
        </p:spPr>
        <p:txBody>
          <a:bodyPr wrap="square" lIns="0" tIns="0" rIns="0" bIns="0" rtlCol="0" anchor="ctr">
            <a:normAutofit/>
          </a:bodyPr>
          <a:lstStyle/>
          <a:p>
            <a:pPr rtl="1" algn="r" indent="0" marL="0">
              <a:buNone/>
            </a:pPr>
            <a:r>
              <a:rPr lang="en-US" sz="1900" b="1" dirty="0">
                <a:solidFill>
                  <a:srgbClr val="4A5D3F"/>
                </a:solidFill>
                <a:latin typeface="Geeza Pro" pitchFamily="34" charset="0"/>
                <a:ea typeface="Geeza Pro" pitchFamily="34" charset="-122"/>
                <a:cs typeface="Geeza Pro" pitchFamily="34" charset="-120"/>
              </a:rPr>
              <a:t>شراكات الحارة</a:t>
            </a:r>
            <a:endParaRPr lang="en-US" sz="1900" dirty="0"/>
          </a:p>
        </p:txBody>
      </p:sp>
      <p:sp>
        <p:nvSpPr>
          <p:cNvPr id="18" name="Text 13"/>
          <p:cNvSpPr txBox="1"/>
          <p:nvPr/>
        </p:nvSpPr>
        <p:spPr>
          <a:xfrm>
            <a:off x="7360920" y="3666744"/>
            <a:ext cx="3886200" cy="475488"/>
          </a:xfrm>
          <a:prstGeom prst="rect">
            <a:avLst/>
          </a:prstGeom>
          <a:noFill/>
          <a:ln/>
        </p:spPr>
        <p:txBody>
          <a:bodyPr wrap="square" lIns="0" tIns="0" rIns="0" bIns="0" rtlCol="0" anchor="t">
            <a:normAutofit/>
          </a:bodyPr>
          <a:lstStyle/>
          <a:p>
            <a:pPr rtl="1" algn="r" indent="0" marL="0">
              <a:buNone/>
            </a:pPr>
            <a:r>
              <a:rPr lang="en-US" sz="1450" dirty="0">
                <a:solidFill>
                  <a:srgbClr val="22231F"/>
                </a:solidFill>
                <a:latin typeface="Geeza Pro" pitchFamily="34" charset="0"/>
                <a:ea typeface="Geeza Pro" pitchFamily="34" charset="-122"/>
                <a:cs typeface="Geeza Pro" pitchFamily="34" charset="-120"/>
              </a:rPr>
              <a:t>ضم دكاكين وحرفيين إلى مسارات واضحة وقابلة للقياس</a:t>
            </a:r>
            <a:endParaRPr lang="en-US" sz="1450" dirty="0"/>
          </a:p>
        </p:txBody>
      </p:sp>
      <p:sp>
        <p:nvSpPr>
          <p:cNvPr id="19" name="Text 14"/>
          <p:cNvSpPr txBox="1"/>
          <p:nvPr/>
        </p:nvSpPr>
        <p:spPr>
          <a:xfrm>
            <a:off x="10012680" y="4352544"/>
            <a:ext cx="1280160" cy="256032"/>
          </a:xfrm>
          <a:prstGeom prst="rect">
            <a:avLst/>
          </a:prstGeom>
          <a:noFill/>
          <a:ln/>
        </p:spPr>
        <p:txBody>
          <a:bodyPr wrap="square" lIns="0" tIns="0" rIns="0" bIns="0" rtlCol="0" anchor="ctr">
            <a:normAutofit/>
          </a:bodyPr>
          <a:lstStyle/>
          <a:p>
            <a:pPr rtl="1" algn="r" indent="0" marL="0">
              <a:buNone/>
            </a:pPr>
            <a:r>
              <a:rPr lang="en-US" sz="1050" b="1" dirty="0">
                <a:solidFill>
                  <a:srgbClr val="D97706"/>
                </a:solidFill>
                <a:latin typeface="Geeza Pro" pitchFamily="34" charset="0"/>
                <a:ea typeface="Geeza Pro" pitchFamily="34" charset="-122"/>
                <a:cs typeface="Geeza Pro" pitchFamily="34" charset="-120"/>
              </a:rPr>
              <a:t>الأيام ٢١–٣٠</a:t>
            </a:r>
            <a:endParaRPr lang="en-US" sz="1050" dirty="0"/>
          </a:p>
        </p:txBody>
      </p:sp>
      <p:sp>
        <p:nvSpPr>
          <p:cNvPr id="20" name="Text 15"/>
          <p:cNvSpPr txBox="1"/>
          <p:nvPr/>
        </p:nvSpPr>
        <p:spPr>
          <a:xfrm>
            <a:off x="7360920" y="4599432"/>
            <a:ext cx="3886200" cy="393192"/>
          </a:xfrm>
          <a:prstGeom prst="rect">
            <a:avLst/>
          </a:prstGeom>
          <a:noFill/>
          <a:ln/>
        </p:spPr>
        <p:txBody>
          <a:bodyPr wrap="square" lIns="0" tIns="0" rIns="0" bIns="0" rtlCol="0" anchor="ctr">
            <a:normAutofit/>
          </a:bodyPr>
          <a:lstStyle/>
          <a:p>
            <a:pPr rtl="1" algn="r" indent="0" marL="0">
              <a:buNone/>
            </a:pPr>
            <a:r>
              <a:rPr lang="en-US" sz="1900" b="1" dirty="0">
                <a:solidFill>
                  <a:srgbClr val="4A5D3F"/>
                </a:solidFill>
                <a:latin typeface="Geeza Pro" pitchFamily="34" charset="0"/>
                <a:ea typeface="Geeza Pro" pitchFamily="34" charset="-122"/>
                <a:cs typeface="Geeza Pro" pitchFamily="34" charset="-120"/>
              </a:rPr>
              <a:t>نسخة الإطلاق</a:t>
            </a:r>
            <a:endParaRPr lang="en-US" sz="1900" dirty="0"/>
          </a:p>
        </p:txBody>
      </p:sp>
      <p:sp>
        <p:nvSpPr>
          <p:cNvPr id="21" name="Text 16"/>
          <p:cNvSpPr txBox="1"/>
          <p:nvPr/>
        </p:nvSpPr>
        <p:spPr>
          <a:xfrm>
            <a:off x="7360920" y="5020056"/>
            <a:ext cx="3886200" cy="475488"/>
          </a:xfrm>
          <a:prstGeom prst="rect">
            <a:avLst/>
          </a:prstGeom>
          <a:noFill/>
          <a:ln/>
        </p:spPr>
        <p:txBody>
          <a:bodyPr wrap="square" lIns="0" tIns="0" rIns="0" bIns="0" rtlCol="0" anchor="t">
            <a:normAutofit/>
          </a:bodyPr>
          <a:lstStyle/>
          <a:p>
            <a:pPr rtl="1" algn="r" indent="0" marL="0">
              <a:buNone/>
            </a:pPr>
            <a:r>
              <a:rPr lang="en-US" sz="1450" dirty="0">
                <a:solidFill>
                  <a:srgbClr val="22231F"/>
                </a:solidFill>
                <a:latin typeface="Geeza Pro" pitchFamily="34" charset="0"/>
                <a:ea typeface="Geeza Pro" pitchFamily="34" charset="-122"/>
                <a:cs typeface="Geeza Pro" pitchFamily="34" charset="-120"/>
              </a:rPr>
              <a:t>تحسين الهاتف وتفعيل مقارنات زمنية ممهدة للواقع المعزز</a:t>
            </a:r>
            <a:endParaRPr lang="en-US" sz="1450" dirty="0"/>
          </a:p>
        </p:txBody>
      </p:sp>
      <p:sp>
        <p:nvSpPr>
          <p:cNvPr id="22" name="Shape 17"/>
          <p:cNvSpPr/>
          <p:nvPr/>
        </p:nvSpPr>
        <p:spPr>
          <a:xfrm>
            <a:off x="502920" y="4645152"/>
            <a:ext cx="5989320" cy="1097280"/>
          </a:xfrm>
          <a:prstGeom prst="roundRect">
            <a:avLst/>
          </a:prstGeom>
          <a:solidFill>
            <a:srgbClr val="FFF7ED"/>
          </a:solidFill>
          <a:ln w="15240">
            <a:solidFill>
              <a:srgbClr val="D97706">
                <a:alpha val="65000"/>
              </a:srgbClr>
            </a:solidFill>
            <a:prstDash val="solid"/>
          </a:ln>
        </p:spPr>
      </p:sp>
      <p:sp>
        <p:nvSpPr>
          <p:cNvPr id="23" name="Text 18"/>
          <p:cNvSpPr txBox="1"/>
          <p:nvPr/>
        </p:nvSpPr>
        <p:spPr>
          <a:xfrm>
            <a:off x="4663440" y="4828032"/>
            <a:ext cx="1572768" cy="274320"/>
          </a:xfrm>
          <a:prstGeom prst="rect">
            <a:avLst/>
          </a:prstGeom>
          <a:noFill/>
          <a:ln/>
        </p:spPr>
        <p:txBody>
          <a:bodyPr wrap="square" lIns="0" tIns="0" rIns="0" bIns="0" rtlCol="0" anchor="ctr">
            <a:normAutofit/>
          </a:bodyPr>
          <a:lstStyle/>
          <a:p>
            <a:pPr rtl="1" algn="r" indent="0" marL="0">
              <a:buNone/>
            </a:pPr>
            <a:r>
              <a:rPr lang="en-US" sz="1420" b="1" dirty="0">
                <a:solidFill>
                  <a:srgbClr val="D97706"/>
                </a:solidFill>
                <a:latin typeface="Geeza Pro" pitchFamily="34" charset="0"/>
                <a:ea typeface="Geeza Pro" pitchFamily="34" charset="-122"/>
                <a:cs typeface="Geeza Pro" pitchFamily="34" charset="-120"/>
              </a:rPr>
              <a:t>الاستدامة المقترحة</a:t>
            </a:r>
            <a:endParaRPr lang="en-US" sz="1420" dirty="0"/>
          </a:p>
        </p:txBody>
      </p:sp>
      <p:sp>
        <p:nvSpPr>
          <p:cNvPr id="24" name="Text 19"/>
          <p:cNvSpPr txBox="1"/>
          <p:nvPr/>
        </p:nvSpPr>
        <p:spPr>
          <a:xfrm>
            <a:off x="758952" y="5166360"/>
            <a:ext cx="5468112" cy="347472"/>
          </a:xfrm>
          <a:prstGeom prst="rect">
            <a:avLst/>
          </a:prstGeom>
          <a:noFill/>
          <a:ln/>
        </p:spPr>
        <p:txBody>
          <a:bodyPr wrap="square" lIns="0" tIns="0" rIns="0" bIns="0" rtlCol="0" anchor="ctr">
            <a:normAutofit/>
          </a:bodyPr>
          <a:lstStyle/>
          <a:p>
            <a:pPr rtl="1" algn="r" indent="0" marL="0">
              <a:buNone/>
            </a:pPr>
            <a:r>
              <a:rPr lang="en-US" sz="1500" b="1" dirty="0">
                <a:solidFill>
                  <a:srgbClr val="303B2B"/>
                </a:solidFill>
                <a:latin typeface="Geeza Pro" pitchFamily="34" charset="0"/>
                <a:ea typeface="Geeza Pro" pitchFamily="34" charset="-122"/>
                <a:cs typeface="Geeza Pro" pitchFamily="34" charset="-120"/>
              </a:rPr>
              <a:t>شراكات مؤسسية وأكاديمية، ثم تراخيص للمدارس ومشغلي الجولات</a:t>
            </a:r>
            <a:endParaRPr lang="en-US" sz="1500" dirty="0"/>
          </a:p>
        </p:txBody>
      </p:sp>
      <p:sp>
        <p:nvSpPr>
          <p:cNvPr id="25" name="Text 20"/>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D8D82"/>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0"/>
        </a:solidFill>
      </p:bgPr>
    </p:bg>
    <p:spTree>
      <p:nvGrpSpPr>
        <p:cNvPr id="1" name=""/>
        <p:cNvGrpSpPr/>
        <p:nvPr/>
      </p:nvGrpSpPr>
      <p:grpSpPr>
        <a:xfrm>
          <a:off x="0" y="0"/>
          <a:ext cx="0" cy="0"/>
          <a:chOff x="0" y="0"/>
          <a:chExt cx="0" cy="0"/>
        </a:xfrm>
      </p:grpSpPr>
      <p:pic>
        <p:nvPicPr>
          <p:cNvPr id="2" name="Image 0" descr="Jerusalem viewed from the Mount of Olives">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303B2B">
              <a:alpha val="78000"/>
            </a:srgbClr>
          </a:solidFill>
          <a:ln w="12700">
            <a:solidFill>
              <a:srgbClr val="12130F">
                <a:alpha val="0"/>
              </a:srgbClr>
            </a:solidFill>
            <a:prstDash val="solid"/>
          </a:ln>
        </p:spPr>
      </p:sp>
      <p:sp>
        <p:nvSpPr>
          <p:cNvPr id="4" name="Shape 1"/>
          <p:cNvSpPr/>
          <p:nvPr/>
        </p:nvSpPr>
        <p:spPr>
          <a:xfrm>
            <a:off x="347472" y="301752"/>
            <a:ext cx="2926080" cy="0"/>
          </a:xfrm>
          <a:prstGeom prst="line">
            <a:avLst/>
          </a:prstGeom>
          <a:noFill/>
          <a:ln w="12700">
            <a:solidFill>
              <a:srgbClr val="FFFFFF">
                <a:alpha val="30000"/>
              </a:srgbClr>
            </a:solidFill>
            <a:prstDash val="solid"/>
          </a:ln>
        </p:spPr>
      </p:sp>
      <p:sp>
        <p:nvSpPr>
          <p:cNvPr id="5" name="Text 2"/>
          <p:cNvSpPr txBox="1"/>
          <p:nvPr/>
        </p:nvSpPr>
        <p:spPr>
          <a:xfrm>
            <a:off x="347472" y="100584"/>
            <a:ext cx="310896" cy="164592"/>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rial" pitchFamily="34" charset="0"/>
                <a:ea typeface="Arial" pitchFamily="34" charset="-122"/>
                <a:cs typeface="Arial" pitchFamily="34" charset="-120"/>
              </a:rPr>
              <a:t>08</a:t>
            </a:r>
            <a:endParaRPr lang="en-US" sz="900" dirty="0"/>
          </a:p>
        </p:txBody>
      </p:sp>
      <p:sp>
        <p:nvSpPr>
          <p:cNvPr id="6" name="Text 3"/>
          <p:cNvSpPr txBox="1"/>
          <p:nvPr/>
        </p:nvSpPr>
        <p:spPr>
          <a:xfrm>
            <a:off x="704088" y="100584"/>
            <a:ext cx="603504" cy="164592"/>
          </a:xfrm>
          <a:prstGeom prst="rect">
            <a:avLst/>
          </a:prstGeom>
          <a:noFill/>
          <a:ln/>
        </p:spPr>
        <p:txBody>
          <a:bodyPr wrap="square" lIns="0" tIns="0" rIns="0" bIns="0" rtlCol="0" anchor="ctr">
            <a:normAutofit/>
          </a:bodyPr>
          <a:lstStyle/>
          <a:p>
            <a:pPr algn="l" indent="0" marL="0">
              <a:buNone/>
            </a:pPr>
            <a:r>
              <a:rPr lang="en-US" sz="800" b="1" dirty="0">
                <a:solidFill>
                  <a:srgbClr val="D97706"/>
                </a:solidFill>
                <a:latin typeface="Arial" pitchFamily="34" charset="0"/>
                <a:ea typeface="Arial" pitchFamily="34" charset="-122"/>
                <a:cs typeface="Arial" pitchFamily="34" charset="-120"/>
              </a:rPr>
              <a:t>10 SEC</a:t>
            </a:r>
            <a:endParaRPr lang="en-US" sz="800" dirty="0"/>
          </a:p>
        </p:txBody>
      </p:sp>
      <p:pic>
        <p:nvPicPr>
          <p:cNvPr id="7" name="Image 1" descr="Hikayat AlQuds logo">    </p:cNvPr>
          <p:cNvPicPr>
            <a:picLocks noChangeAspect="1"/>
          </p:cNvPicPr>
          <p:nvPr/>
        </p:nvPicPr>
        <p:blipFill>
          <a:blip r:embed="rId2"/>
          <a:srcRect l="0" r="0" t="0" b="0"/>
          <a:stretch/>
        </p:blipFill>
        <p:spPr>
          <a:xfrm>
            <a:off x="11082528" y="109728"/>
            <a:ext cx="658368" cy="384048"/>
          </a:xfrm>
          <a:prstGeom prst="rect">
            <a:avLst/>
          </a:prstGeom>
        </p:spPr>
      </p:pic>
      <p:pic>
        <p:nvPicPr>
          <p:cNvPr id="8" name="Image 2" descr="Birzeit University logo">    </p:cNvPr>
          <p:cNvPicPr>
            <a:picLocks noChangeAspect="1"/>
          </p:cNvPicPr>
          <p:nvPr/>
        </p:nvPicPr>
        <p:blipFill>
          <a:blip r:embed="rId3"/>
          <a:srcRect l="0" r="0" t="0" b="0"/>
          <a:stretch/>
        </p:blipFill>
        <p:spPr>
          <a:xfrm>
            <a:off x="457200" y="502920"/>
            <a:ext cx="2011680" cy="731520"/>
          </a:xfrm>
          <a:prstGeom prst="rect">
            <a:avLst/>
          </a:prstGeom>
        </p:spPr>
      </p:pic>
      <p:sp>
        <p:nvSpPr>
          <p:cNvPr id="9" name="Text 4"/>
          <p:cNvSpPr txBox="1"/>
          <p:nvPr/>
        </p:nvSpPr>
        <p:spPr>
          <a:xfrm>
            <a:off x="6400800" y="960120"/>
            <a:ext cx="5230368" cy="685800"/>
          </a:xfrm>
          <a:prstGeom prst="rect">
            <a:avLst/>
          </a:prstGeom>
          <a:noFill/>
          <a:ln/>
        </p:spPr>
        <p:txBody>
          <a:bodyPr wrap="square" lIns="0" tIns="0" rIns="0" bIns="0" rtlCol="0" anchor="ctr">
            <a:normAutofit/>
          </a:bodyPr>
          <a:lstStyle/>
          <a:p>
            <a:pPr rtl="1" algn="r" indent="0" marL="0">
              <a:buNone/>
            </a:pPr>
            <a:r>
              <a:rPr lang="en-US" sz="3600" b="1" dirty="0">
                <a:solidFill>
                  <a:srgbClr val="FFFFFF"/>
                </a:solidFill>
                <a:latin typeface="Geeza Pro" pitchFamily="34" charset="0"/>
                <a:ea typeface="Geeza Pro" pitchFamily="34" charset="-122"/>
                <a:cs typeface="Geeza Pro" pitchFamily="34" charset="-120"/>
              </a:rPr>
              <a:t>فريق حكاية القدس</a:t>
            </a:r>
            <a:endParaRPr lang="en-US" sz="3600" dirty="0"/>
          </a:p>
        </p:txBody>
      </p:sp>
      <p:sp>
        <p:nvSpPr>
          <p:cNvPr id="10" name="Text 5"/>
          <p:cNvSpPr txBox="1"/>
          <p:nvPr/>
        </p:nvSpPr>
        <p:spPr>
          <a:xfrm>
            <a:off x="8778240" y="1600200"/>
            <a:ext cx="2816352" cy="365760"/>
          </a:xfrm>
          <a:prstGeom prst="rect">
            <a:avLst/>
          </a:prstGeom>
          <a:noFill/>
          <a:ln/>
        </p:spPr>
        <p:txBody>
          <a:bodyPr wrap="square" lIns="0" tIns="0" rIns="0" bIns="0" rtlCol="0" anchor="ctr">
            <a:normAutofit/>
          </a:bodyPr>
          <a:lstStyle/>
          <a:p>
            <a:pPr rtl="1" algn="r" indent="0" marL="0">
              <a:buNone/>
            </a:pPr>
            <a:r>
              <a:rPr lang="en-US" sz="1800" b="1" dirty="0">
                <a:solidFill>
                  <a:srgbClr val="D39B35"/>
                </a:solidFill>
                <a:latin typeface="Geeza Pro" pitchFamily="34" charset="0"/>
                <a:ea typeface="Geeza Pro" pitchFamily="34" charset="-122"/>
                <a:cs typeface="Geeza Pro" pitchFamily="34" charset="-120"/>
              </a:rPr>
              <a:t>جامعة بيرزيت</a:t>
            </a:r>
            <a:endParaRPr lang="en-US" sz="1800" dirty="0"/>
          </a:p>
        </p:txBody>
      </p:sp>
      <p:sp>
        <p:nvSpPr>
          <p:cNvPr id="11" name="Text 6"/>
          <p:cNvSpPr txBox="1"/>
          <p:nvPr/>
        </p:nvSpPr>
        <p:spPr>
          <a:xfrm>
            <a:off x="8549640" y="2331720"/>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أوس حماد</a:t>
            </a:r>
            <a:endParaRPr lang="en-US" sz="1750" dirty="0"/>
          </a:p>
        </p:txBody>
      </p:sp>
      <p:sp>
        <p:nvSpPr>
          <p:cNvPr id="12" name="Text 7"/>
          <p:cNvSpPr txBox="1"/>
          <p:nvPr/>
        </p:nvSpPr>
        <p:spPr>
          <a:xfrm>
            <a:off x="6400800" y="2660904"/>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قيادة الفريق وتطوير المنظومة</a:t>
            </a:r>
            <a:endParaRPr lang="en-US" sz="1250" dirty="0"/>
          </a:p>
        </p:txBody>
      </p:sp>
      <p:sp>
        <p:nvSpPr>
          <p:cNvPr id="13" name="Text 8"/>
          <p:cNvSpPr txBox="1"/>
          <p:nvPr/>
        </p:nvSpPr>
        <p:spPr>
          <a:xfrm>
            <a:off x="8549640" y="3118104"/>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يزيد الحداد</a:t>
            </a:r>
            <a:endParaRPr lang="en-US" sz="1750" dirty="0"/>
          </a:p>
        </p:txBody>
      </p:sp>
      <p:sp>
        <p:nvSpPr>
          <p:cNvPr id="14" name="Text 9"/>
          <p:cNvSpPr txBox="1"/>
          <p:nvPr/>
        </p:nvSpPr>
        <p:spPr>
          <a:xfrm>
            <a:off x="6400800" y="3447288"/>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الذكاء الاصطناعي والخادم</a:t>
            </a:r>
            <a:endParaRPr lang="en-US" sz="1250" dirty="0"/>
          </a:p>
        </p:txBody>
      </p:sp>
      <p:sp>
        <p:nvSpPr>
          <p:cNvPr id="15" name="Text 10"/>
          <p:cNvSpPr txBox="1"/>
          <p:nvPr/>
        </p:nvSpPr>
        <p:spPr>
          <a:xfrm>
            <a:off x="8549640" y="3904488"/>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أمير الرشايدة</a:t>
            </a:r>
            <a:endParaRPr lang="en-US" sz="1750" dirty="0"/>
          </a:p>
        </p:txBody>
      </p:sp>
      <p:sp>
        <p:nvSpPr>
          <p:cNvPr id="16" name="Text 11"/>
          <p:cNvSpPr txBox="1"/>
          <p:nvPr/>
        </p:nvSpPr>
        <p:spPr>
          <a:xfrm>
            <a:off x="6400800" y="4233672"/>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تطوير الواجهة والمنظومة</a:t>
            </a:r>
            <a:endParaRPr lang="en-US" sz="1250" dirty="0"/>
          </a:p>
        </p:txBody>
      </p:sp>
      <p:sp>
        <p:nvSpPr>
          <p:cNvPr id="17" name="Text 12"/>
          <p:cNvSpPr txBox="1"/>
          <p:nvPr/>
        </p:nvSpPr>
        <p:spPr>
          <a:xfrm>
            <a:off x="3977640" y="2331720"/>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أسماء عبد اللطيف</a:t>
            </a:r>
            <a:endParaRPr lang="en-US" sz="1750" dirty="0"/>
          </a:p>
        </p:txBody>
      </p:sp>
      <p:sp>
        <p:nvSpPr>
          <p:cNvPr id="18" name="Text 13"/>
          <p:cNvSpPr txBox="1"/>
          <p:nvPr/>
        </p:nvSpPr>
        <p:spPr>
          <a:xfrm>
            <a:off x="1828800" y="2660904"/>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تجربة المستخدم والمنتج</a:t>
            </a:r>
            <a:endParaRPr lang="en-US" sz="1250" dirty="0"/>
          </a:p>
        </p:txBody>
      </p:sp>
      <p:sp>
        <p:nvSpPr>
          <p:cNvPr id="19" name="Text 14"/>
          <p:cNvSpPr txBox="1"/>
          <p:nvPr/>
        </p:nvSpPr>
        <p:spPr>
          <a:xfrm>
            <a:off x="3977640" y="3118104"/>
            <a:ext cx="2697480" cy="329184"/>
          </a:xfrm>
          <a:prstGeom prst="rect">
            <a:avLst/>
          </a:prstGeom>
          <a:noFill/>
          <a:ln/>
        </p:spPr>
        <p:txBody>
          <a:bodyPr wrap="square" lIns="0" tIns="0" rIns="0" bIns="0" rtlCol="0" anchor="ctr">
            <a:normAutofit/>
          </a:bodyPr>
          <a:lstStyle/>
          <a:p>
            <a:pPr rtl="1" algn="r" indent="0" marL="0">
              <a:buNone/>
            </a:pPr>
            <a:r>
              <a:rPr lang="en-US" sz="1750" b="1" dirty="0">
                <a:solidFill>
                  <a:srgbClr val="FFFFFF"/>
                </a:solidFill>
                <a:latin typeface="Geeza Pro" pitchFamily="34" charset="0"/>
                <a:ea typeface="Geeza Pro" pitchFamily="34" charset="-122"/>
                <a:cs typeface="Geeza Pro" pitchFamily="34" charset="-120"/>
              </a:rPr>
              <a:t>عبير شبانة</a:t>
            </a:r>
            <a:endParaRPr lang="en-US" sz="1750" dirty="0"/>
          </a:p>
        </p:txBody>
      </p:sp>
      <p:sp>
        <p:nvSpPr>
          <p:cNvPr id="20" name="Text 15"/>
          <p:cNvSpPr txBox="1"/>
          <p:nvPr/>
        </p:nvSpPr>
        <p:spPr>
          <a:xfrm>
            <a:off x="1828800" y="3447288"/>
            <a:ext cx="4846320" cy="301752"/>
          </a:xfrm>
          <a:prstGeom prst="rect">
            <a:avLst/>
          </a:prstGeom>
          <a:noFill/>
          <a:ln/>
        </p:spPr>
        <p:txBody>
          <a:bodyPr wrap="square" lIns="0" tIns="0" rIns="0" bIns="0" rtlCol="0" anchor="ctr">
            <a:normAutofit/>
          </a:bodyPr>
          <a:lstStyle/>
          <a:p>
            <a:pPr rtl="1" algn="r" indent="0" marL="0">
              <a:buNone/>
            </a:pPr>
            <a:r>
              <a:rPr lang="en-US" sz="1250" dirty="0">
                <a:solidFill>
                  <a:srgbClr val="E2E4D8"/>
                </a:solidFill>
                <a:latin typeface="Geeza Pro" pitchFamily="34" charset="0"/>
                <a:ea typeface="Geeza Pro" pitchFamily="34" charset="-122"/>
                <a:cs typeface="Geeza Pro" pitchFamily="34" charset="-120"/>
              </a:rPr>
              <a:t>الأعمال والتسويق</a:t>
            </a:r>
            <a:endParaRPr lang="en-US" sz="1250" dirty="0"/>
          </a:p>
        </p:txBody>
      </p:sp>
      <p:sp>
        <p:nvSpPr>
          <p:cNvPr id="21" name="Shape 16"/>
          <p:cNvSpPr/>
          <p:nvPr/>
        </p:nvSpPr>
        <p:spPr>
          <a:xfrm>
            <a:off x="1828800" y="4809744"/>
            <a:ext cx="9784080" cy="0"/>
          </a:xfrm>
          <a:prstGeom prst="line">
            <a:avLst/>
          </a:prstGeom>
          <a:noFill/>
          <a:ln w="15240">
            <a:solidFill>
              <a:srgbClr val="FFFFFF">
                <a:alpha val="40000"/>
              </a:srgbClr>
            </a:solidFill>
            <a:prstDash val="solid"/>
          </a:ln>
        </p:spPr>
      </p:sp>
      <p:sp>
        <p:nvSpPr>
          <p:cNvPr id="22" name="Text 17"/>
          <p:cNvSpPr txBox="1"/>
          <p:nvPr/>
        </p:nvSpPr>
        <p:spPr>
          <a:xfrm>
            <a:off x="1261872" y="5056632"/>
            <a:ext cx="9646920" cy="585216"/>
          </a:xfrm>
          <a:prstGeom prst="rect">
            <a:avLst/>
          </a:prstGeom>
          <a:noFill/>
          <a:ln/>
        </p:spPr>
        <p:txBody>
          <a:bodyPr wrap="square" lIns="0" tIns="0" rIns="0" bIns="0" rtlCol="0" anchor="ctr">
            <a:normAutofit/>
          </a:bodyPr>
          <a:lstStyle/>
          <a:p>
            <a:pPr rtl="1" algn="ctr" indent="0" marL="0">
              <a:buNone/>
            </a:pPr>
            <a:r>
              <a:rPr lang="en-US" sz="2500" b="1" dirty="0">
                <a:solidFill>
                  <a:srgbClr val="FFFFFF"/>
                </a:solidFill>
                <a:latin typeface="Geeza Pro" pitchFamily="34" charset="0"/>
                <a:ea typeface="Geeza Pro" pitchFamily="34" charset="-122"/>
                <a:cs typeface="Geeza Pro" pitchFamily="34" charset="-120"/>
              </a:rPr>
              <a:t>لأن القدس مش بس مدينة بنزورها، القدس حكاية بنعيشها</a:t>
            </a:r>
            <a:endParaRPr lang="en-US" sz="2500" dirty="0"/>
          </a:p>
        </p:txBody>
      </p:sp>
      <p:sp>
        <p:nvSpPr>
          <p:cNvPr id="23" name="Shape 18"/>
          <p:cNvSpPr/>
          <p:nvPr/>
        </p:nvSpPr>
        <p:spPr>
          <a:xfrm>
            <a:off x="3401568" y="5870448"/>
            <a:ext cx="5394960" cy="585216"/>
          </a:xfrm>
          <a:prstGeom prst="roundRect">
            <a:avLst/>
          </a:prstGeom>
          <a:solidFill>
            <a:srgbClr val="D97706">
              <a:alpha val="98000"/>
            </a:srgbClr>
          </a:solidFill>
          <a:ln w="13970">
            <a:solidFill>
              <a:srgbClr val="D97706"/>
            </a:solidFill>
            <a:prstDash val="solid"/>
          </a:ln>
        </p:spPr>
      </p:sp>
      <p:sp>
        <p:nvSpPr>
          <p:cNvPr id="24" name="Text 19"/>
          <p:cNvSpPr txBox="1"/>
          <p:nvPr/>
        </p:nvSpPr>
        <p:spPr>
          <a:xfrm>
            <a:off x="3584448" y="5925312"/>
            <a:ext cx="5029200" cy="457200"/>
          </a:xfrm>
          <a:prstGeom prst="rect">
            <a:avLst/>
          </a:prstGeom>
          <a:noFill/>
          <a:ln/>
        </p:spPr>
        <p:txBody>
          <a:bodyPr wrap="square" lIns="0" tIns="0" rIns="0" bIns="0" rtlCol="0" anchor="ctr">
            <a:normAutofit/>
          </a:bodyPr>
          <a:lstStyle/>
          <a:p>
            <a:pPr rtl="1" algn="ctr" indent="0" marL="0">
              <a:buNone/>
            </a:pPr>
            <a:r>
              <a:rPr lang="en-US" sz="1900" b="1" dirty="0">
                <a:solidFill>
                  <a:srgbClr val="FFFFFF"/>
                </a:solidFill>
                <a:latin typeface="Geeza Pro" pitchFamily="34" charset="0"/>
                <a:ea typeface="Geeza Pro" pitchFamily="34" charset="-122"/>
                <a:cs typeface="Geeza Pro" pitchFamily="34" charset="-120"/>
              </a:rPr>
              <a:t>ننتقل الآن معكم إلى العرض الحي للمنتج</a:t>
            </a:r>
            <a:endParaRPr lang="en-US" sz="1900" dirty="0"/>
          </a:p>
        </p:txBody>
      </p:sp>
      <p:sp>
        <p:nvSpPr>
          <p:cNvPr id="25" name="Text 20"/>
          <p:cNvSpPr txBox="1"/>
          <p:nvPr/>
        </p:nvSpPr>
        <p:spPr>
          <a:xfrm>
            <a:off x="8074152" y="6519672"/>
            <a:ext cx="3611880"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D9D9D1"/>
                </a:solidFill>
                <a:latin typeface="Arial" pitchFamily="34" charset="0"/>
                <a:ea typeface="Arial" pitchFamily="34" charset="-122"/>
                <a:cs typeface="Arial" pitchFamily="34" charset="-120"/>
              </a:rPr>
              <a:t>Q GUIDE 2026  ·  BIRZEIT UNIVERSITY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eza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Birzeit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حكاية القدس | Hikayat AlQuds</dc:title>
  <dc:subject>QGuide Hackathon Demo Day Pitch</dc:subject>
  <dc:creator>Hikayat AlQuds Team, Birzeit University</dc:creator>
  <cp:lastModifiedBy>Hikayat AlQuds Team, Birzeit University</cp:lastModifiedBy>
  <cp:revision>1</cp:revision>
  <dcterms:created xsi:type="dcterms:W3CDTF">2026-09-22T12:20:00Z</dcterms:created>
  <dcterms:modified xsi:type="dcterms:W3CDTF">2026-09-22T12:20:00Z</dcterms:modified>
</cp:coreProperties>
</file>